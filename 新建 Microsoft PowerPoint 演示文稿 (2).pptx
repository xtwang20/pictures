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4" r:id="rId5"/>
    <p:sldId id="259" r:id="rId6"/>
    <p:sldId id="260" r:id="rId7"/>
    <p:sldId id="263" r:id="rId8"/>
    <p:sldId id="262" r:id="rId9"/>
    <p:sldId id="261"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884" autoAdjust="0"/>
  </p:normalViewPr>
  <p:slideViewPr>
    <p:cSldViewPr snapToGrid="0">
      <p:cViewPr varScale="1">
        <p:scale>
          <a:sx n="97" d="100"/>
          <a:sy n="97" d="100"/>
        </p:scale>
        <p:origin x="405" y="65"/>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57C13E-B500-43C6-B174-477AD7CAA3D7}"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20D11-DA1A-4791-8E2E-10595E1269AC}" type="slidenum">
              <a:rPr lang="zh-CN" altLang="en-US" smtClean="0"/>
              <a:t>‹#›</a:t>
            </a:fld>
            <a:endParaRPr lang="zh-CN" altLang="en-US"/>
          </a:p>
        </p:txBody>
      </p:sp>
    </p:spTree>
    <p:extLst>
      <p:ext uri="{BB962C8B-B14F-4D97-AF65-F5344CB8AC3E}">
        <p14:creationId xmlns:p14="http://schemas.microsoft.com/office/powerpoint/2010/main" val="1386829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020D11-DA1A-4791-8E2E-10595E1269AC}" type="slidenum">
              <a:rPr lang="zh-CN" altLang="en-US" smtClean="0"/>
              <a:t>5</a:t>
            </a:fld>
            <a:endParaRPr lang="zh-CN" altLang="en-US"/>
          </a:p>
        </p:txBody>
      </p:sp>
    </p:spTree>
    <p:extLst>
      <p:ext uri="{BB962C8B-B14F-4D97-AF65-F5344CB8AC3E}">
        <p14:creationId xmlns:p14="http://schemas.microsoft.com/office/powerpoint/2010/main" val="4085469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020D11-DA1A-4791-8E2E-10595E1269AC}" type="slidenum">
              <a:rPr lang="zh-CN" altLang="en-US" smtClean="0"/>
              <a:t>6</a:t>
            </a:fld>
            <a:endParaRPr lang="zh-CN" altLang="en-US"/>
          </a:p>
        </p:txBody>
      </p:sp>
    </p:spTree>
    <p:extLst>
      <p:ext uri="{BB962C8B-B14F-4D97-AF65-F5344CB8AC3E}">
        <p14:creationId xmlns:p14="http://schemas.microsoft.com/office/powerpoint/2010/main" val="2859843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first stage estimates the endogenous variable using instruments, while the second stage includes the residual to test for endogeneity.</a:t>
            </a:r>
          </a:p>
          <a:p>
            <a:endParaRPr lang="en-US" altLang="zh-CN" dirty="0"/>
          </a:p>
          <a:p>
            <a:r>
              <a:rPr lang="en-US" altLang="zh-CN" dirty="0"/>
              <a:t>The 2SLS and control function approaches are numerically equivalent in linear models. The key difference lies in implementation: 2SLS replaces the endogenous variable with its predicted value, while CFA directly controls for endogeneity by including the first-stage residual. An advantage of CFA is that it provides a convenient test for endogeneity through the significance of the residual term.</a:t>
            </a:r>
          </a:p>
          <a:p>
            <a:endParaRPr lang="en-US" altLang="zh-CN" dirty="0"/>
          </a:p>
          <a:p>
            <a:r>
              <a:rPr lang="en-US" altLang="zh-CN" dirty="0"/>
              <a:t>Although the control function approach appears more intuitive due to its ability to directly test endogeneity, it is not inherently superior to 2SLS in linear models. The two methods are numerically equivalent under correct specification. However, 2SLS remains the standard approach in empirical research due to its stronger theoretical foundation, broader applicability, and well-developed diagnostic tools, especially in handling weak instruments. The control function approach becomes particularly valuable in nonlinear models, where 2SLS is not applicable.</a:t>
            </a:r>
            <a:endParaRPr lang="zh-CN" altLang="en-US" dirty="0"/>
          </a:p>
        </p:txBody>
      </p:sp>
      <p:sp>
        <p:nvSpPr>
          <p:cNvPr id="4" name="灯片编号占位符 3"/>
          <p:cNvSpPr>
            <a:spLocks noGrp="1"/>
          </p:cNvSpPr>
          <p:nvPr>
            <p:ph type="sldNum" sz="quarter" idx="5"/>
          </p:nvPr>
        </p:nvSpPr>
        <p:spPr/>
        <p:txBody>
          <a:bodyPr/>
          <a:lstStyle/>
          <a:p>
            <a:fld id="{F3020D11-DA1A-4791-8E2E-10595E1269AC}" type="slidenum">
              <a:rPr lang="zh-CN" altLang="en-US" smtClean="0"/>
              <a:t>7</a:t>
            </a:fld>
            <a:endParaRPr lang="zh-CN" altLang="en-US"/>
          </a:p>
        </p:txBody>
      </p:sp>
    </p:spTree>
    <p:extLst>
      <p:ext uri="{BB962C8B-B14F-4D97-AF65-F5344CB8AC3E}">
        <p14:creationId xmlns:p14="http://schemas.microsoft.com/office/powerpoint/2010/main" val="3556445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020D11-DA1A-4791-8E2E-10595E1269AC}" type="slidenum">
              <a:rPr lang="zh-CN" altLang="en-US" smtClean="0"/>
              <a:t>8</a:t>
            </a:fld>
            <a:endParaRPr lang="zh-CN" altLang="en-US"/>
          </a:p>
        </p:txBody>
      </p:sp>
    </p:spTree>
    <p:extLst>
      <p:ext uri="{BB962C8B-B14F-4D97-AF65-F5344CB8AC3E}">
        <p14:creationId xmlns:p14="http://schemas.microsoft.com/office/powerpoint/2010/main" val="1227508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5676C2-6F33-8D87-CD19-C3D773E5E40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8B70F08-CDCC-1EB9-ADB6-6FCC90DA6E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D38D7F-89B6-FA1F-3266-FEA1E9B7252E}"/>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6ED44196-5FEF-1129-05AD-E04786086B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7B6666-79B9-39F8-1CE6-19F513054326}"/>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67618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255C82-0736-8D37-AB67-97EB3D50825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0BA82A9-8702-8850-86B0-AA4F0F67FD2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E82331-ECEC-1347-FE59-04AF88EEA6ED}"/>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75BE2B3A-BB3E-6211-568B-0349561148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22F618-1F25-6812-1F92-4634F31D4EA5}"/>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319688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2CB64E-6DDE-8F02-3A7B-62A812FC321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D8E290F-ADEB-033A-5A70-A5CBF7FE64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D0B14BA-0CAF-1970-69C1-BAD50A3C0374}"/>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9F157CBA-8C63-5EE0-9E1B-B990A45102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BF8D0B-1CA1-4810-5438-651C707CABA2}"/>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167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1079E-2B98-B2C3-1BF7-BC9B9F2164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386442B-CE2A-0C89-D08E-BE316E4744D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FFC616-FF54-2279-AD2B-77BDB02E89D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2617CB9-331C-3246-F249-B5457AEA74DD}"/>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123643E2-7DD4-B3E0-14BB-12EA399DDC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279D03-DC3D-D30F-B2FC-9038329CB723}"/>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1136373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49842-5DAF-6153-0AD0-BB638DFC305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EAF7508-3E0E-8934-20CE-79345474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A5783AB-C2B3-9EDF-DCF8-8E8E100138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D9C1954-9E58-86DE-77AC-3BCE54732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355023D-A609-F483-2746-EDD219442DB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B69B8A-F409-DCBD-ECE3-3CC3A01A97E7}"/>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8" name="页脚占位符 7">
            <a:extLst>
              <a:ext uri="{FF2B5EF4-FFF2-40B4-BE49-F238E27FC236}">
                <a16:creationId xmlns:a16="http://schemas.microsoft.com/office/drawing/2014/main" id="{ACC8F1F4-7714-29B0-B1F3-4A3FD4BC3D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18F1454-71C9-2D36-B06B-845FC0C85093}"/>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23716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B7159E-030C-4CFA-029E-4CB90415F5E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21F1C0A-2B56-57AB-9FEC-C2FF18F9666C}"/>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4" name="页脚占位符 3">
            <a:extLst>
              <a:ext uri="{FF2B5EF4-FFF2-40B4-BE49-F238E27FC236}">
                <a16:creationId xmlns:a16="http://schemas.microsoft.com/office/drawing/2014/main" id="{41B2203D-992B-0AD5-ACE0-DF79504CC71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800A859-1636-5C05-F911-06302269FD07}"/>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529357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9DE9F83-32F9-BB82-657D-65D35E0B60CA}"/>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3" name="页脚占位符 2">
            <a:extLst>
              <a:ext uri="{FF2B5EF4-FFF2-40B4-BE49-F238E27FC236}">
                <a16:creationId xmlns:a16="http://schemas.microsoft.com/office/drawing/2014/main" id="{63CD9148-4852-B5EF-C44D-68F9170F78C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5C6974C-AB4B-E326-7DA3-DF10E30C490E}"/>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4015789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EACEA-7F98-D588-B02A-2D7A707A123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B3F1109-4FE7-9CC8-0019-03E297354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CE14AB5-0F39-818A-F7DA-21294E5A1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2A81BD-6B9D-2387-ECF0-895D81EB5C68}"/>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11E667CA-B746-32EB-08FB-9B7B11B93FE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5F794A2-A4CF-5DDD-F5F7-E76F46DCD3D7}"/>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3952205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6989C-988C-3607-8AA2-55E0AC61462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115C354-7452-51BA-EB9E-DB7BB2AFC8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0CA7F69-F8AE-B4D8-10B7-57942E4D82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A90EFF2-A3A4-617B-85E6-78E6AECED7D8}"/>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6" name="页脚占位符 5">
            <a:extLst>
              <a:ext uri="{FF2B5EF4-FFF2-40B4-BE49-F238E27FC236}">
                <a16:creationId xmlns:a16="http://schemas.microsoft.com/office/drawing/2014/main" id="{E26090AE-CE92-8656-1DAF-9D533B42278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B0BEF11-87F1-DA6C-54A7-13E95AA96DC7}"/>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1800959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CE8DB7-E96E-8008-7A72-8C15E55E669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44CD80C-3F94-D5CF-9C83-575764BFE2F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81E662D-7A72-B210-84FE-536D74544A8B}"/>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EF5954CA-E998-44ED-DBF0-D76E82B5E2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587597-D722-7D37-FC9D-1B1526731F29}"/>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2689675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87BD92A-C0E8-156D-A9C6-178F07C34A3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9664200-4527-412E-8BEC-DBD8EFA2322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C71CBC-54D2-C9D2-3660-6A3DE8D6621C}"/>
              </a:ext>
            </a:extLst>
          </p:cNvPr>
          <p:cNvSpPr>
            <a:spLocks noGrp="1"/>
          </p:cNvSpPr>
          <p:nvPr>
            <p:ph type="dt" sz="half" idx="10"/>
          </p:nvPr>
        </p:nvSpPr>
        <p:spPr/>
        <p:txBody>
          <a:body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C50016E5-8394-BD10-9F84-55E8661D67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5C1C59-5972-EE72-E88E-6F2489A37316}"/>
              </a:ext>
            </a:extLst>
          </p:cNvPr>
          <p:cNvSpPr>
            <a:spLocks noGrp="1"/>
          </p:cNvSpPr>
          <p:nvPr>
            <p:ph type="sldNum" sz="quarter" idx="12"/>
          </p:nvPr>
        </p:nvSpPr>
        <p:spPr/>
        <p:txBody>
          <a:body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2296918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B5C629D-5E18-BF1A-0155-8A4C8AF6C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C251E2C-7E9F-9BB6-ADC1-58F8167879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87FC57-6609-FD35-6FBA-F97FC6769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BA41F3-68C0-45E6-BCFF-A6CA8FD5ACDC}" type="datetimeFigureOut">
              <a:rPr lang="zh-CN" altLang="en-US" smtClean="0"/>
              <a:t>2026/4/17</a:t>
            </a:fld>
            <a:endParaRPr lang="zh-CN" altLang="en-US"/>
          </a:p>
        </p:txBody>
      </p:sp>
      <p:sp>
        <p:nvSpPr>
          <p:cNvPr id="5" name="页脚占位符 4">
            <a:extLst>
              <a:ext uri="{FF2B5EF4-FFF2-40B4-BE49-F238E27FC236}">
                <a16:creationId xmlns:a16="http://schemas.microsoft.com/office/drawing/2014/main" id="{69B3A211-A367-59D6-C9DE-4DEEBB541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8FD6931-EB9C-8AC5-51AC-005DE4A0F7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FE83D2-85E2-4DC8-8B03-8FB1BF4B7DA7}" type="slidenum">
              <a:rPr lang="zh-CN" altLang="en-US" smtClean="0"/>
              <a:t>‹#›</a:t>
            </a:fld>
            <a:endParaRPr lang="zh-CN" altLang="en-US"/>
          </a:p>
        </p:txBody>
      </p:sp>
    </p:spTree>
    <p:extLst>
      <p:ext uri="{BB962C8B-B14F-4D97-AF65-F5344CB8AC3E}">
        <p14:creationId xmlns:p14="http://schemas.microsoft.com/office/powerpoint/2010/main" val="1349739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B9DAE45-6042-6407-73EC-729C4CE11997}"/>
              </a:ext>
            </a:extLst>
          </p:cNvPr>
          <p:cNvPicPr>
            <a:picLocks noChangeAspect="1"/>
          </p:cNvPicPr>
          <p:nvPr/>
        </p:nvPicPr>
        <p:blipFill>
          <a:blip r:embed="rId2"/>
          <a:stretch>
            <a:fillRect/>
          </a:stretch>
        </p:blipFill>
        <p:spPr>
          <a:xfrm>
            <a:off x="1433945" y="1979470"/>
            <a:ext cx="4582391" cy="2601988"/>
          </a:xfrm>
          <a:prstGeom prst="rect">
            <a:avLst/>
          </a:prstGeom>
        </p:spPr>
      </p:pic>
      <p:pic>
        <p:nvPicPr>
          <p:cNvPr id="7" name="图片 6">
            <a:extLst>
              <a:ext uri="{FF2B5EF4-FFF2-40B4-BE49-F238E27FC236}">
                <a16:creationId xmlns:a16="http://schemas.microsoft.com/office/drawing/2014/main" id="{04C4A4D8-0019-2E0C-CFEB-5D82EDF96965}"/>
              </a:ext>
            </a:extLst>
          </p:cNvPr>
          <p:cNvPicPr>
            <a:picLocks noChangeAspect="1"/>
          </p:cNvPicPr>
          <p:nvPr/>
        </p:nvPicPr>
        <p:blipFill>
          <a:blip r:embed="rId3"/>
          <a:stretch>
            <a:fillRect/>
          </a:stretch>
        </p:blipFill>
        <p:spPr>
          <a:xfrm>
            <a:off x="7122056" y="1975457"/>
            <a:ext cx="3959848" cy="2601988"/>
          </a:xfrm>
          <a:prstGeom prst="rect">
            <a:avLst/>
          </a:prstGeom>
        </p:spPr>
      </p:pic>
      <p:sp>
        <p:nvSpPr>
          <p:cNvPr id="9" name="文本框 8">
            <a:extLst>
              <a:ext uri="{FF2B5EF4-FFF2-40B4-BE49-F238E27FC236}">
                <a16:creationId xmlns:a16="http://schemas.microsoft.com/office/drawing/2014/main" id="{1CB019F8-5CED-026C-8255-9CD5B57D3AD1}"/>
              </a:ext>
            </a:extLst>
          </p:cNvPr>
          <p:cNvSpPr txBox="1"/>
          <p:nvPr/>
        </p:nvSpPr>
        <p:spPr>
          <a:xfrm>
            <a:off x="1433945" y="4844534"/>
            <a:ext cx="4582390" cy="646331"/>
          </a:xfrm>
          <a:prstGeom prst="rect">
            <a:avLst/>
          </a:prstGeom>
          <a:noFill/>
        </p:spPr>
        <p:txBody>
          <a:bodyPr wrap="square">
            <a:spAutoFit/>
          </a:bodyPr>
          <a:lstStyle/>
          <a:p>
            <a:r>
              <a:rPr lang="zh-CN" altLang="en-US" dirty="0"/>
              <a:t>吉林省长春市朝阳区乐山镇辛屯村探索推进“小田并大田”土地集约经营模式</a:t>
            </a:r>
          </a:p>
        </p:txBody>
      </p:sp>
    </p:spTree>
    <p:extLst>
      <p:ext uri="{BB962C8B-B14F-4D97-AF65-F5344CB8AC3E}">
        <p14:creationId xmlns:p14="http://schemas.microsoft.com/office/powerpoint/2010/main" val="4207945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508B-6568-5CC3-78C7-1DB6E88DF73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8D1B431-10B0-451C-9355-2B21AA3EBE64}"/>
              </a:ext>
            </a:extLst>
          </p:cNvPr>
          <p:cNvPicPr>
            <a:picLocks noChangeAspect="1"/>
          </p:cNvPicPr>
          <p:nvPr/>
        </p:nvPicPr>
        <p:blipFill>
          <a:blip r:embed="rId2"/>
          <a:stretch>
            <a:fillRect/>
          </a:stretch>
        </p:blipFill>
        <p:spPr>
          <a:xfrm>
            <a:off x="1704974" y="832137"/>
            <a:ext cx="9210675" cy="4718894"/>
          </a:xfrm>
          <a:prstGeom prst="rect">
            <a:avLst/>
          </a:prstGeom>
        </p:spPr>
      </p:pic>
      <p:sp>
        <p:nvSpPr>
          <p:cNvPr id="5" name="文本框 4">
            <a:extLst>
              <a:ext uri="{FF2B5EF4-FFF2-40B4-BE49-F238E27FC236}">
                <a16:creationId xmlns:a16="http://schemas.microsoft.com/office/drawing/2014/main" id="{CA2CC383-36E6-C12B-8EB1-2B3089C5CAB3}"/>
              </a:ext>
            </a:extLst>
          </p:cNvPr>
          <p:cNvSpPr txBox="1"/>
          <p:nvPr/>
        </p:nvSpPr>
        <p:spPr>
          <a:xfrm>
            <a:off x="1704974" y="5641216"/>
            <a:ext cx="6096866" cy="646331"/>
          </a:xfrm>
          <a:prstGeom prst="rect">
            <a:avLst/>
          </a:prstGeom>
          <a:noFill/>
        </p:spPr>
        <p:txBody>
          <a:bodyPr wrap="square">
            <a:spAutoFit/>
          </a:bodyPr>
          <a:lstStyle/>
          <a:p>
            <a:r>
              <a:rPr lang="en-US" altLang="zh-CN" dirty="0"/>
              <a:t>https://www.maff.go.jp/j/wpaper/w_maff/r3/r3_h/trend/part1/chap3/c3_4_00.html</a:t>
            </a:r>
            <a:endParaRPr lang="zh-CN" altLang="en-US" dirty="0"/>
          </a:p>
        </p:txBody>
      </p:sp>
    </p:spTree>
    <p:extLst>
      <p:ext uri="{BB962C8B-B14F-4D97-AF65-F5344CB8AC3E}">
        <p14:creationId xmlns:p14="http://schemas.microsoft.com/office/powerpoint/2010/main" val="1377094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2CD9-3AE8-CE24-AB36-906A5D71DC7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9FD7174-2079-E03F-FCAC-B9C14D26CB48}"/>
              </a:ext>
            </a:extLst>
          </p:cNvPr>
          <p:cNvPicPr>
            <a:picLocks noChangeAspect="1"/>
          </p:cNvPicPr>
          <p:nvPr/>
        </p:nvPicPr>
        <p:blipFill>
          <a:blip r:embed="rId2"/>
          <a:stretch>
            <a:fillRect/>
          </a:stretch>
        </p:blipFill>
        <p:spPr>
          <a:xfrm>
            <a:off x="649430" y="701280"/>
            <a:ext cx="4317423" cy="5455439"/>
          </a:xfrm>
          <a:prstGeom prst="rect">
            <a:avLst/>
          </a:prstGeom>
        </p:spPr>
      </p:pic>
      <p:sp>
        <p:nvSpPr>
          <p:cNvPr id="5" name="文本框 4">
            <a:extLst>
              <a:ext uri="{FF2B5EF4-FFF2-40B4-BE49-F238E27FC236}">
                <a16:creationId xmlns:a16="http://schemas.microsoft.com/office/drawing/2014/main" id="{EB80EDEB-1856-98F6-DE6E-5C2A0032EAB0}"/>
              </a:ext>
            </a:extLst>
          </p:cNvPr>
          <p:cNvSpPr txBox="1"/>
          <p:nvPr/>
        </p:nvSpPr>
        <p:spPr>
          <a:xfrm>
            <a:off x="445510" y="170679"/>
            <a:ext cx="5872163" cy="2308324"/>
          </a:xfrm>
          <a:prstGeom prst="rect">
            <a:avLst/>
          </a:prstGeom>
          <a:noFill/>
        </p:spPr>
        <p:txBody>
          <a:bodyPr wrap="square">
            <a:spAutoFit/>
          </a:bodyPr>
          <a:lstStyle/>
          <a:p>
            <a:r>
              <a:rPr lang="ja-JP" altLang="en-US" dirty="0"/>
              <a:t>担い手への農地利用集積面積は、農地バンクを創設した平成</a:t>
            </a:r>
            <a:r>
              <a:rPr lang="en-US" altLang="ja-JP" dirty="0"/>
              <a:t>26</a:t>
            </a:r>
            <a:r>
              <a:rPr lang="ja-JP" altLang="en-US" dirty="0"/>
              <a:t>（</a:t>
            </a:r>
            <a:r>
              <a:rPr lang="en-US" altLang="ja-JP" dirty="0"/>
              <a:t>2014</a:t>
            </a:r>
            <a:r>
              <a:rPr lang="ja-JP" altLang="en-US" dirty="0"/>
              <a:t>）年度以降、年々増加しており、令和</a:t>
            </a:r>
            <a:r>
              <a:rPr lang="en-US" altLang="ja-JP" dirty="0"/>
              <a:t>2</a:t>
            </a:r>
            <a:r>
              <a:rPr lang="ja-JP" altLang="en-US" dirty="0"/>
              <a:t>（</a:t>
            </a:r>
            <a:r>
              <a:rPr lang="en-US" altLang="ja-JP" dirty="0"/>
              <a:t>2020</a:t>
            </a:r>
            <a:r>
              <a:rPr lang="ja-JP" altLang="en-US" dirty="0"/>
              <a:t>）年度末時点で</a:t>
            </a:r>
            <a:r>
              <a:rPr lang="en-US" altLang="ja-JP" dirty="0"/>
              <a:t>254</a:t>
            </a:r>
            <a:r>
              <a:rPr lang="ja-JP" altLang="en-US" dirty="0"/>
              <a:t>万</a:t>
            </a:r>
            <a:r>
              <a:rPr lang="en-US" altLang="ja-JP" dirty="0"/>
              <a:t>ha</a:t>
            </a:r>
            <a:r>
              <a:rPr lang="ja-JP" altLang="en-US" dirty="0"/>
              <a:t>となりました。借入地の面積が増加傾向にあり、同年度末時点で</a:t>
            </a:r>
            <a:r>
              <a:rPr lang="en-US" altLang="ja-JP" dirty="0"/>
              <a:t>108</a:t>
            </a:r>
            <a:r>
              <a:rPr lang="ja-JP" altLang="en-US" dirty="0"/>
              <a:t>万</a:t>
            </a:r>
            <a:r>
              <a:rPr lang="en-US" altLang="ja-JP" dirty="0"/>
              <a:t>ha</a:t>
            </a:r>
            <a:r>
              <a:rPr lang="ja-JP" altLang="en-US" dirty="0"/>
              <a:t>と全体の</a:t>
            </a:r>
            <a:r>
              <a:rPr lang="en-US" altLang="ja-JP" dirty="0"/>
              <a:t>4</a:t>
            </a:r>
            <a:r>
              <a:rPr lang="ja-JP" altLang="en-US" dirty="0"/>
              <a:t>割を占めています。</a:t>
            </a:r>
          </a:p>
          <a:p>
            <a:r>
              <a:rPr lang="ja-JP" altLang="en-US" dirty="0"/>
              <a:t>自</a:t>
            </a:r>
            <a:r>
              <a:rPr lang="en-US" altLang="ja-JP" dirty="0"/>
              <a:t>2014</a:t>
            </a:r>
            <a:r>
              <a:rPr lang="ja-JP" altLang="en-US" dirty="0"/>
              <a:t>财年农田银行成立以来，农田使用面积逐年增加，截至</a:t>
            </a:r>
            <a:r>
              <a:rPr lang="en-US" altLang="ja-JP" dirty="0"/>
              <a:t>2020</a:t>
            </a:r>
            <a:r>
              <a:rPr lang="ja-JP" altLang="en-US" dirty="0"/>
              <a:t>财年末已达到</a:t>
            </a:r>
            <a:r>
              <a:rPr lang="en-US" altLang="ja-JP" dirty="0"/>
              <a:t>254</a:t>
            </a:r>
            <a:r>
              <a:rPr lang="ja-JP" altLang="en-US" dirty="0"/>
              <a:t>万公顷。 借用土地面积正在增加，截至同财年末，占总面积的</a:t>
            </a:r>
            <a:r>
              <a:rPr lang="en-US" altLang="ja-JP" dirty="0"/>
              <a:t>40%</a:t>
            </a:r>
            <a:r>
              <a:rPr lang="ja-JP" altLang="en-US" dirty="0"/>
              <a:t>，达到</a:t>
            </a:r>
            <a:r>
              <a:rPr lang="en-US" altLang="ja-JP" dirty="0"/>
              <a:t>108</a:t>
            </a:r>
            <a:r>
              <a:rPr lang="ja-JP" altLang="en-US" dirty="0"/>
              <a:t>万公顷。</a:t>
            </a:r>
            <a:endParaRPr lang="zh-CN" altLang="en-US" dirty="0"/>
          </a:p>
        </p:txBody>
      </p:sp>
      <p:sp>
        <p:nvSpPr>
          <p:cNvPr id="7" name="文本框 6">
            <a:extLst>
              <a:ext uri="{FF2B5EF4-FFF2-40B4-BE49-F238E27FC236}">
                <a16:creationId xmlns:a16="http://schemas.microsoft.com/office/drawing/2014/main" id="{3AFA23F0-E8BF-A89B-C6DC-BDF02CDDD81D}"/>
              </a:ext>
            </a:extLst>
          </p:cNvPr>
          <p:cNvSpPr txBox="1"/>
          <p:nvPr/>
        </p:nvSpPr>
        <p:spPr>
          <a:xfrm>
            <a:off x="700088" y="6156719"/>
            <a:ext cx="6096866" cy="646331"/>
          </a:xfrm>
          <a:prstGeom prst="rect">
            <a:avLst/>
          </a:prstGeom>
          <a:noFill/>
        </p:spPr>
        <p:txBody>
          <a:bodyPr wrap="square">
            <a:spAutoFit/>
          </a:bodyPr>
          <a:lstStyle/>
          <a:p>
            <a:r>
              <a:rPr lang="en-US" altLang="zh-CN" dirty="0"/>
              <a:t>https://www.maff.go.jp/j/wpaper/w_maff/r3/r3_h/trend/part1/chap3/c3_4_00.html</a:t>
            </a:r>
            <a:endParaRPr lang="zh-CN" altLang="en-US" dirty="0"/>
          </a:p>
        </p:txBody>
      </p:sp>
      <p:pic>
        <p:nvPicPr>
          <p:cNvPr id="9" name="图片 8">
            <a:extLst>
              <a:ext uri="{FF2B5EF4-FFF2-40B4-BE49-F238E27FC236}">
                <a16:creationId xmlns:a16="http://schemas.microsoft.com/office/drawing/2014/main" id="{0D7BE20F-E5B7-467C-8F55-2AEF180DA064}"/>
              </a:ext>
            </a:extLst>
          </p:cNvPr>
          <p:cNvPicPr>
            <a:picLocks noChangeAspect="1"/>
          </p:cNvPicPr>
          <p:nvPr/>
        </p:nvPicPr>
        <p:blipFill>
          <a:blip r:embed="rId3"/>
          <a:stretch>
            <a:fillRect/>
          </a:stretch>
        </p:blipFill>
        <p:spPr>
          <a:xfrm>
            <a:off x="6274526" y="1236938"/>
            <a:ext cx="5471964" cy="4114791"/>
          </a:xfrm>
          <a:prstGeom prst="rect">
            <a:avLst/>
          </a:prstGeom>
        </p:spPr>
      </p:pic>
    </p:spTree>
    <p:extLst>
      <p:ext uri="{BB962C8B-B14F-4D97-AF65-F5344CB8AC3E}">
        <p14:creationId xmlns:p14="http://schemas.microsoft.com/office/powerpoint/2010/main" val="1688979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3AB17-B7FE-BB6A-2504-601F10FE04D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09ED45F-75A7-E827-56FE-AD030FE6687B}"/>
              </a:ext>
            </a:extLst>
          </p:cNvPr>
          <p:cNvSpPr txBox="1"/>
          <p:nvPr/>
        </p:nvSpPr>
        <p:spPr>
          <a:xfrm>
            <a:off x="1114778" y="2300336"/>
            <a:ext cx="9962444" cy="2139047"/>
          </a:xfrm>
          <a:prstGeom prst="rect">
            <a:avLst/>
          </a:prstGeom>
          <a:noFill/>
        </p:spPr>
        <p:txBody>
          <a:bodyPr wrap="square">
            <a:spAutoFit/>
          </a:bodyPr>
          <a:lstStyle/>
          <a:p>
            <a:pPr algn="l">
              <a:spcBef>
                <a:spcPts val="300"/>
              </a:spcBef>
              <a:spcAft>
                <a:spcPts val="300"/>
              </a:spcAft>
            </a:pPr>
            <a:r>
              <a:rPr lang="zh-CN" altLang="en-US" dirty="0">
                <a:solidFill>
                  <a:srgbClr val="202020"/>
                </a:solidFill>
                <a:latin typeface="Segoe WPC"/>
              </a:rPr>
              <a:t>推荐理由：</a:t>
            </a:r>
            <a:endParaRPr lang="en-US" altLang="zh-CN" dirty="0">
              <a:solidFill>
                <a:srgbClr val="202020"/>
              </a:solidFill>
              <a:latin typeface="Segoe WPC"/>
            </a:endParaRPr>
          </a:p>
          <a:p>
            <a:pPr algn="l">
              <a:spcBef>
                <a:spcPts val="300"/>
              </a:spcBef>
              <a:spcAft>
                <a:spcPts val="300"/>
              </a:spcAft>
            </a:pPr>
            <a:endParaRPr lang="en-US" altLang="zh-CN" dirty="0">
              <a:solidFill>
                <a:srgbClr val="202020"/>
              </a:solidFill>
              <a:latin typeface="Segoe WPC"/>
            </a:endParaRPr>
          </a:p>
          <a:p>
            <a:pPr algn="l">
              <a:spcBef>
                <a:spcPts val="300"/>
              </a:spcBef>
              <a:spcAft>
                <a:spcPts val="300"/>
              </a:spcAft>
            </a:pPr>
            <a:r>
              <a:rPr lang="en-US" altLang="zh-CN" dirty="0">
                <a:solidFill>
                  <a:srgbClr val="202020"/>
                </a:solidFill>
                <a:latin typeface="Segoe WPC"/>
              </a:rPr>
              <a:t>Research question: </a:t>
            </a:r>
          </a:p>
          <a:p>
            <a:pPr algn="l">
              <a:spcBef>
                <a:spcPts val="300"/>
              </a:spcBef>
              <a:spcAft>
                <a:spcPts val="300"/>
              </a:spcAft>
            </a:pPr>
            <a:endParaRPr lang="en-US" altLang="zh-CN" b="0" i="0" dirty="0">
              <a:solidFill>
                <a:srgbClr val="202020"/>
              </a:solidFill>
              <a:effectLst/>
              <a:latin typeface="Segoe WPC"/>
            </a:endParaRPr>
          </a:p>
          <a:p>
            <a:pPr>
              <a:spcBef>
                <a:spcPts val="300"/>
              </a:spcBef>
              <a:spcAft>
                <a:spcPts val="300"/>
              </a:spcAft>
            </a:pPr>
            <a:r>
              <a:rPr lang="en-US" altLang="zh-CN" dirty="0"/>
              <a:t>Hypotheses / </a:t>
            </a:r>
            <a:r>
              <a:rPr lang="zh-CN" altLang="en-US" dirty="0"/>
              <a:t>仮説</a:t>
            </a:r>
            <a:r>
              <a:rPr lang="en-US" altLang="zh-CN" dirty="0"/>
              <a:t>:</a:t>
            </a:r>
            <a:r>
              <a:rPr lang="ja-JP" altLang="en-US" dirty="0"/>
              <a:t>法人化率が高い市町村では，農地の流動化が促進されると予想する．</a:t>
            </a:r>
            <a:endParaRPr lang="en-US" altLang="zh-CN" dirty="0"/>
          </a:p>
          <a:p>
            <a:pPr>
              <a:spcBef>
                <a:spcPts val="300"/>
              </a:spcBef>
              <a:spcAft>
                <a:spcPts val="300"/>
              </a:spcAft>
            </a:pPr>
            <a:endParaRPr lang="zh-CN" altLang="en-US" b="0" i="0" dirty="0">
              <a:solidFill>
                <a:srgbClr val="202020"/>
              </a:solidFill>
              <a:effectLst/>
              <a:latin typeface="Segoe WPC"/>
            </a:endParaRPr>
          </a:p>
        </p:txBody>
      </p:sp>
    </p:spTree>
    <p:extLst>
      <p:ext uri="{BB962C8B-B14F-4D97-AF65-F5344CB8AC3E}">
        <p14:creationId xmlns:p14="http://schemas.microsoft.com/office/powerpoint/2010/main" val="1575098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28A1D39-1466-704D-88F4-56AAA6289156}"/>
              </a:ext>
            </a:extLst>
          </p:cNvPr>
          <p:cNvGraphicFramePr>
            <a:graphicFrameLocks noGrp="1"/>
          </p:cNvGraphicFramePr>
          <p:nvPr>
            <p:extLst>
              <p:ext uri="{D42A27DB-BD31-4B8C-83A1-F6EECF244321}">
                <p14:modId xmlns:p14="http://schemas.microsoft.com/office/powerpoint/2010/main" val="414791194"/>
              </p:ext>
            </p:extLst>
          </p:nvPr>
        </p:nvGraphicFramePr>
        <p:xfrm>
          <a:off x="586508" y="1238134"/>
          <a:ext cx="11018983" cy="5308600"/>
        </p:xfrm>
        <a:graphic>
          <a:graphicData uri="http://schemas.openxmlformats.org/drawingml/2006/table">
            <a:tbl>
              <a:tblPr firstRow="1" bandRow="1">
                <a:tableStyleId>{9D7B26C5-4107-4FEC-AEDC-1716B250A1EF}</a:tableStyleId>
              </a:tblPr>
              <a:tblGrid>
                <a:gridCol w="2250210">
                  <a:extLst>
                    <a:ext uri="{9D8B030D-6E8A-4147-A177-3AD203B41FA5}">
                      <a16:colId xmlns:a16="http://schemas.microsoft.com/office/drawing/2014/main" val="3050344847"/>
                    </a:ext>
                  </a:extLst>
                </a:gridCol>
                <a:gridCol w="2582141">
                  <a:extLst>
                    <a:ext uri="{9D8B030D-6E8A-4147-A177-3AD203B41FA5}">
                      <a16:colId xmlns:a16="http://schemas.microsoft.com/office/drawing/2014/main" val="872016869"/>
                    </a:ext>
                  </a:extLst>
                </a:gridCol>
                <a:gridCol w="3431887">
                  <a:extLst>
                    <a:ext uri="{9D8B030D-6E8A-4147-A177-3AD203B41FA5}">
                      <a16:colId xmlns:a16="http://schemas.microsoft.com/office/drawing/2014/main" val="1409722336"/>
                    </a:ext>
                  </a:extLst>
                </a:gridCol>
                <a:gridCol w="2754745">
                  <a:extLst>
                    <a:ext uri="{9D8B030D-6E8A-4147-A177-3AD203B41FA5}">
                      <a16:colId xmlns:a16="http://schemas.microsoft.com/office/drawing/2014/main" val="3842590910"/>
                    </a:ext>
                  </a:extLst>
                </a:gridCol>
              </a:tblGrid>
              <a:tr h="370840">
                <a:tc>
                  <a: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Author (year)</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tc>
                <a:tc>
                  <a: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tc>
                <a:tc>
                  <a: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Independent variable</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tc>
                <a:tc>
                  <a: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Dependent variable</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tc>
                <a:extLst>
                  <a:ext uri="{0D108BD9-81ED-4DB2-BD59-A6C34878D82A}">
                    <a16:rowId xmlns:a16="http://schemas.microsoft.com/office/drawing/2014/main" val="2479556366"/>
                  </a:ext>
                </a:extLst>
              </a:tr>
              <a:tr h="370840">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高橋（</a:t>
                      </a:r>
                      <a:r>
                        <a:rPr lang="en-US" altLang="zh-CN" dirty="0">
                          <a:latin typeface="Calibri" panose="020F0502020204030204" pitchFamily="34" charset="0"/>
                          <a:ea typeface="Calibri" panose="020F0502020204030204" pitchFamily="34" charset="0"/>
                          <a:cs typeface="Calibri" panose="020F0502020204030204" pitchFamily="34" charset="0"/>
                        </a:rPr>
                        <a:t>2010</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Takahashi (2010)</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都道府県</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prefecture-level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取引費用</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transaction costs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Calibri" panose="020F0502020204030204" pitchFamily="34" charset="0"/>
                          <a:ea typeface="UD Digi Kyokasho N" panose="02020400000000000000" pitchFamily="17" charset="-128"/>
                          <a:cs typeface="Calibri" panose="020F0502020204030204" pitchFamily="34" charset="0"/>
                        </a:rPr>
                        <a:t>農地貸借</a:t>
                      </a:r>
                      <a:endParaRPr lang="en-US" altLang="zh-CN" sz="1800" kern="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dk1"/>
                          </a:solidFill>
                          <a:latin typeface="Calibri" panose="020F0502020204030204" pitchFamily="34" charset="0"/>
                          <a:ea typeface="Calibri" panose="020F0502020204030204" pitchFamily="34" charset="0"/>
                          <a:cs typeface="Calibri" panose="020F0502020204030204" pitchFamily="34" charset="0"/>
                        </a:rPr>
                        <a:t>farmland rental</a:t>
                      </a:r>
                      <a:endParaRPr lang="zh-CN" altLang="en-US" sz="1800" kern="1200" dirty="0">
                        <a:solidFill>
                          <a:schemeClr val="dk1"/>
                        </a:solidFill>
                        <a:latin typeface="Calibri" panose="020F0502020204030204" pitchFamily="34" charset="0"/>
                        <a:ea typeface="UD Digi Kyokasho N" panose="02020400000000000000" pitchFamily="17" charset="-128"/>
                        <a:cs typeface="Calibri" panose="020F0502020204030204" pitchFamily="34" charset="0"/>
                      </a:endParaRPr>
                    </a:p>
                  </a:txBody>
                  <a:tcPr>
                    <a:noFill/>
                  </a:tcPr>
                </a:tc>
                <a:extLst>
                  <a:ext uri="{0D108BD9-81ED-4DB2-BD59-A6C34878D82A}">
                    <a16:rowId xmlns:a16="http://schemas.microsoft.com/office/drawing/2014/main" val="1285776530"/>
                  </a:ext>
                </a:extLst>
              </a:tr>
              <a:tr h="370840">
                <a:tc>
                  <a:txBody>
                    <a:bodyPr/>
                    <a:lstStyle/>
                    <a:p>
                      <a:r>
                        <a:rPr lang="en-US" altLang="zh-CN" dirty="0">
                          <a:latin typeface="Calibri" panose="020F0502020204030204" pitchFamily="34" charset="0"/>
                          <a:ea typeface="Calibri" panose="020F0502020204030204" pitchFamily="34" charset="0"/>
                          <a:cs typeface="Calibri" panose="020F0502020204030204" pitchFamily="34" charset="0"/>
                        </a:rPr>
                        <a:t>Ito et al.</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2016</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p>
                  </a:txBody>
                  <a:tcPr>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都道府県</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prefecture-level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農地貸借率</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farmland rental rates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tc>
                  <a:txBody>
                    <a:bodyPr/>
                    <a:lstStyle/>
                    <a:p>
                      <a:r>
                        <a:rPr lang="zh-TW" altLang="en-US" dirty="0">
                          <a:latin typeface="Calibri" panose="020F0502020204030204" pitchFamily="34" charset="0"/>
                          <a:ea typeface="UD Digi Kyokasho N" panose="02020400000000000000" pitchFamily="17" charset="-128"/>
                          <a:cs typeface="Calibri" panose="020F0502020204030204" pitchFamily="34" charset="0"/>
                        </a:rPr>
                        <a:t>耕作放棄地率</a:t>
                      </a:r>
                      <a:endParaRPr lang="en-US" altLang="zh-TW"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abandoned farmland rates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extLst>
                  <a:ext uri="{0D108BD9-81ED-4DB2-BD59-A6C34878D82A}">
                    <a16:rowId xmlns:a16="http://schemas.microsoft.com/office/drawing/2014/main" val="3061205088"/>
                  </a:ext>
                </a:extLst>
              </a:tr>
              <a:tr h="370840">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藤栄（</a:t>
                      </a:r>
                      <a:r>
                        <a:rPr lang="en-US" altLang="zh-CN" dirty="0">
                          <a:latin typeface="Calibri" panose="020F0502020204030204" pitchFamily="34" charset="0"/>
                          <a:ea typeface="Calibri" panose="020F0502020204030204" pitchFamily="34" charset="0"/>
                          <a:cs typeface="Calibri" panose="020F0502020204030204" pitchFamily="34" charset="0"/>
                        </a:rPr>
                        <a:t>2016</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Fujie (2016)</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r>
                        <a:rPr lang="ja-JP" altLang="en-US" dirty="0">
                          <a:latin typeface="Calibri" panose="020F0502020204030204" pitchFamily="34" charset="0"/>
                          <a:ea typeface="UD Digi Kyokasho N" panose="02020400000000000000" pitchFamily="17" charset="-128"/>
                          <a:cs typeface="Calibri" panose="020F0502020204030204" pitchFamily="34" charset="0"/>
                        </a:rPr>
                        <a:t>個票・集落営農</a:t>
                      </a:r>
                      <a:endParaRPr lang="en-US" altLang="ja-JP"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Individual-level </a:t>
                      </a:r>
                      <a:r>
                        <a:rPr lang="ja-JP" altLang="en-US" dirty="0">
                          <a:latin typeface="Calibri" panose="020F0502020204030204" pitchFamily="34" charset="0"/>
                          <a:ea typeface="UD Digi Kyokasho N" panose="02020400000000000000" pitchFamily="17" charset="-128"/>
                          <a:cs typeface="Calibri" panose="020F0502020204030204" pitchFamily="34" charset="0"/>
                        </a:rPr>
                        <a:t>＆</a:t>
                      </a:r>
                      <a:r>
                        <a:rPr lang="en-US" altLang="zh-CN" dirty="0">
                          <a:latin typeface="Calibri" panose="020F0502020204030204" pitchFamily="34" charset="0"/>
                          <a:ea typeface="Calibri" panose="020F0502020204030204" pitchFamily="34" charset="0"/>
                          <a:cs typeface="Calibri" panose="020F0502020204030204" pitchFamily="34" charset="0"/>
                        </a:rPr>
                        <a:t> community-level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r>
                        <a:rPr lang="ja-JP" altLang="en-US" dirty="0">
                          <a:latin typeface="Calibri" panose="020F0502020204030204" pitchFamily="34" charset="0"/>
                          <a:ea typeface="UD Digi Kyokasho N" panose="02020400000000000000" pitchFamily="17" charset="-128"/>
                          <a:cs typeface="Calibri" panose="020F0502020204030204" pitchFamily="34" charset="0"/>
                        </a:rPr>
                        <a:t>認定農業者制度や法人化</a:t>
                      </a:r>
                      <a:endParaRPr lang="en-US" altLang="ja-JP"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certified farmer system and incorporation</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農地集積</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farmland consolidation</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noFill/>
                  </a:tcPr>
                </a:tc>
                <a:extLst>
                  <a:ext uri="{0D108BD9-81ED-4DB2-BD59-A6C34878D82A}">
                    <a16:rowId xmlns:a16="http://schemas.microsoft.com/office/drawing/2014/main" val="3057848792"/>
                  </a:ext>
                </a:extLst>
              </a:tr>
              <a:tr h="370840">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高山（</a:t>
                      </a:r>
                      <a:r>
                        <a:rPr lang="en-US" altLang="zh-CN" dirty="0">
                          <a:latin typeface="Calibri" panose="020F0502020204030204" pitchFamily="34" charset="0"/>
                          <a:ea typeface="Calibri" panose="020F0502020204030204" pitchFamily="34" charset="0"/>
                          <a:cs typeface="Calibri" panose="020F0502020204030204" pitchFamily="34" charset="0"/>
                        </a:rPr>
                        <a:t>2015</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Takayama (2015)</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北海道</a:t>
                      </a:r>
                      <a:r>
                        <a:rPr lang="ja-JP" altLang="en-US" dirty="0">
                          <a:latin typeface="Calibri" panose="020F0502020204030204" pitchFamily="34" charset="0"/>
                          <a:ea typeface="UD Digi Kyokasho N" panose="02020400000000000000" pitchFamily="17" charset="-128"/>
                          <a:cs typeface="Calibri" panose="020F0502020204030204" pitchFamily="34" charset="0"/>
                        </a:rPr>
                        <a:t>の</a:t>
                      </a:r>
                      <a:r>
                        <a:rPr lang="zh-CN" altLang="en-US" dirty="0">
                          <a:latin typeface="Calibri" panose="020F0502020204030204" pitchFamily="34" charset="0"/>
                          <a:ea typeface="UD Digi Kyokasho N" panose="02020400000000000000" pitchFamily="17" charset="-128"/>
                          <a:cs typeface="Calibri" panose="020F0502020204030204" pitchFamily="34" charset="0"/>
                        </a:rPr>
                        <a:t>集落</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Hokkaido community-level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tc>
                  <a:txBody>
                    <a:bodyPr/>
                    <a:lstStyle/>
                    <a:p>
                      <a:r>
                        <a:rPr lang="zh-TW" altLang="en-US" dirty="0">
                          <a:latin typeface="Calibri" panose="020F0502020204030204" pitchFamily="34" charset="0"/>
                          <a:ea typeface="UD Digi Kyokasho N" panose="02020400000000000000" pitchFamily="17" charset="-128"/>
                          <a:cs typeface="Calibri" panose="020F0502020204030204" pitchFamily="34" charset="0"/>
                        </a:rPr>
                        <a:t>農地保有合理化法人設立</a:t>
                      </a:r>
                      <a:endParaRPr lang="en-US" altLang="zh-TW"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establishment of farmland rationalization corporations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農地流動化</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farmland mobility</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solidFill>
                      <a:schemeClr val="bg2"/>
                    </a:solidFill>
                  </a:tcPr>
                </a:tc>
                <a:extLst>
                  <a:ext uri="{0D108BD9-81ED-4DB2-BD59-A6C34878D82A}">
                    <a16:rowId xmlns:a16="http://schemas.microsoft.com/office/drawing/2014/main" val="1872630966"/>
                  </a:ext>
                </a:extLst>
              </a:tr>
              <a:tr h="370840">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武川（</a:t>
                      </a:r>
                      <a:r>
                        <a:rPr lang="en-US" altLang="zh-CN" dirty="0">
                          <a:latin typeface="Calibri" panose="020F0502020204030204" pitchFamily="34" charset="0"/>
                          <a:ea typeface="Calibri" panose="020F0502020204030204" pitchFamily="34" charset="0"/>
                          <a:cs typeface="Calibri" panose="020F0502020204030204" pitchFamily="34" charset="0"/>
                        </a:rPr>
                        <a:t>2019</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Takekawa (2019)</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B w="19050" cap="flat" cmpd="sng" algn="ctr">
                      <a:solidFill>
                        <a:srgbClr val="FF0000"/>
                      </a:solidFill>
                      <a:prstDash val="solid"/>
                      <a:round/>
                      <a:headEnd type="none" w="med" len="med"/>
                      <a:tailEnd type="none" w="med" len="med"/>
                    </a:lnB>
                    <a:noFill/>
                  </a:tcPr>
                </a:tc>
                <a:tc>
                  <a:txBody>
                    <a:bodyPr/>
                    <a:lstStyle/>
                    <a:p>
                      <a:r>
                        <a:rPr lang="ja-JP" altLang="en-US" dirty="0">
                          <a:latin typeface="Calibri" panose="020F0502020204030204" pitchFamily="34" charset="0"/>
                          <a:ea typeface="UD Digi Kyokasho N" panose="02020400000000000000" pitchFamily="17" charset="-128"/>
                          <a:cs typeface="Calibri" panose="020F0502020204030204" pitchFamily="34" charset="0"/>
                        </a:rPr>
                        <a:t>京都府の集落</a:t>
                      </a:r>
                      <a:endParaRPr lang="en-US" altLang="ja-JP"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Kyoto community-level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B w="19050" cap="flat" cmpd="sng" algn="ctr">
                      <a:solidFill>
                        <a:srgbClr val="FF0000"/>
                      </a:solidFill>
                      <a:prstDash val="solid"/>
                      <a:round/>
                      <a:headEnd type="none" w="med" len="med"/>
                      <a:tailEnd type="none" w="med" len="med"/>
                    </a:lnB>
                    <a:no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整備事業</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improvement projects in communities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B w="19050" cap="flat" cmpd="sng" algn="ctr">
                      <a:solidFill>
                        <a:srgbClr val="FF0000"/>
                      </a:solidFill>
                      <a:prstDash val="solid"/>
                      <a:round/>
                      <a:headEnd type="none" w="med" len="med"/>
                      <a:tailEnd type="none" w="med" len="med"/>
                    </a:lnB>
                    <a:no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農地流動化</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farmland mobility</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B w="190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7790765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Calibri" panose="020F0502020204030204" pitchFamily="34" charset="0"/>
                          <a:ea typeface="UD Digi Kyokasho N" panose="02020400000000000000" pitchFamily="17" charset="-128"/>
                          <a:cs typeface="Calibri" panose="020F0502020204030204" pitchFamily="34" charset="0"/>
                        </a:rPr>
                        <a:t>徳村実央子（</a:t>
                      </a:r>
                      <a:r>
                        <a:rPr lang="en-US" altLang="zh-CN" dirty="0">
                          <a:latin typeface="Calibri" panose="020F0502020204030204" pitchFamily="34" charset="0"/>
                          <a:ea typeface="Calibri" panose="020F0502020204030204" pitchFamily="34" charset="0"/>
                          <a:cs typeface="Calibri" panose="020F0502020204030204" pitchFamily="34" charset="0"/>
                        </a:rPr>
                        <a:t>2025</a:t>
                      </a:r>
                      <a:r>
                        <a:rPr lang="zh-CN" altLang="en-US" dirty="0">
                          <a:latin typeface="Calibri" panose="020F0502020204030204" pitchFamily="34" charset="0"/>
                          <a:ea typeface="UD Digi Kyokasho N" panose="02020400000000000000" pitchFamily="17" charset="-128"/>
                          <a:cs typeface="Calibri" panose="020F0502020204030204" pitchFamily="34" charset="0"/>
                        </a:rPr>
                        <a:t>）</a:t>
                      </a:r>
                      <a:endParaRPr lang="en-US" altLang="zh-CN"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latin typeface="Calibri" panose="020F0502020204030204" pitchFamily="34" charset="0"/>
                          <a:ea typeface="Calibri" panose="020F0502020204030204" pitchFamily="34" charset="0"/>
                          <a:cs typeface="Calibri" panose="020F0502020204030204" pitchFamily="34" charset="0"/>
                        </a:rPr>
                        <a:t>Tokumura</a:t>
                      </a:r>
                      <a:r>
                        <a:rPr lang="en-US" altLang="zh-CN" dirty="0">
                          <a:latin typeface="Calibri" panose="020F0502020204030204" pitchFamily="34" charset="0"/>
                          <a:ea typeface="Calibri" panose="020F0502020204030204" pitchFamily="34" charset="0"/>
                          <a:cs typeface="Calibri" panose="020F0502020204030204" pitchFamily="34" charset="0"/>
                        </a:rPr>
                        <a:t> (2025)</a:t>
                      </a:r>
                    </a:p>
                    <a:p>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L w="19050" cap="flat" cmpd="sng" algn="ctr">
                      <a:solidFill>
                        <a:srgbClr val="FF0000"/>
                      </a:solidFill>
                      <a:prstDash val="solid"/>
                      <a:round/>
                      <a:headEnd type="none" w="med" len="med"/>
                      <a:tailEnd type="none" w="med" len="med"/>
                    </a:lnL>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市町村</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municipal-level data</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solidFill>
                      <a:schemeClr val="bg2"/>
                    </a:solidFill>
                  </a:tcPr>
                </a:tc>
                <a:tc>
                  <a:txBody>
                    <a:bodyPr/>
                    <a:lstStyle/>
                    <a:p>
                      <a:r>
                        <a:rPr lang="ja-JP" altLang="en-US" dirty="0">
                          <a:latin typeface="Calibri" panose="020F0502020204030204" pitchFamily="34" charset="0"/>
                          <a:ea typeface="UD Digi Kyokasho N" panose="02020400000000000000" pitchFamily="17" charset="-128"/>
                          <a:cs typeface="Calibri" panose="020F0502020204030204" pitchFamily="34" charset="0"/>
                        </a:rPr>
                        <a:t>農業経営体の法人化</a:t>
                      </a:r>
                      <a:endParaRPr lang="en-US" altLang="ja-JP"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incorporation of agricultural management entities</a:t>
                      </a:r>
                      <a:endParaRPr lang="zh-CN" altLang="en-US" dirty="0">
                        <a:latin typeface="Calibri" panose="020F0502020204030204" pitchFamily="34" charset="0"/>
                        <a:ea typeface="UD Digi Kyokasho N" panose="02020400000000000000" pitchFamily="17" charset="-128"/>
                        <a:cs typeface="Calibri" panose="020F0502020204030204" pitchFamily="34" charset="0"/>
                      </a:endParaRPr>
                    </a:p>
                  </a:txBody>
                  <a:tcP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solidFill>
                      <a:schemeClr val="bg2"/>
                    </a:solidFill>
                  </a:tcPr>
                </a:tc>
                <a:tc>
                  <a:txBody>
                    <a:bodyPr/>
                    <a:lstStyle/>
                    <a:p>
                      <a:r>
                        <a:rPr lang="zh-CN" altLang="en-US" dirty="0">
                          <a:latin typeface="Calibri" panose="020F0502020204030204" pitchFamily="34" charset="0"/>
                          <a:ea typeface="UD Digi Kyokasho N" panose="02020400000000000000" pitchFamily="17" charset="-128"/>
                          <a:cs typeface="Calibri" panose="020F0502020204030204" pitchFamily="34" charset="0"/>
                        </a:rPr>
                        <a:t>農地賃借</a:t>
                      </a:r>
                      <a:endParaRPr lang="en-US" altLang="zh-CN" dirty="0">
                        <a:latin typeface="Calibri" panose="020F0502020204030204" pitchFamily="34" charset="0"/>
                        <a:ea typeface="Calibri" panose="020F0502020204030204" pitchFamily="34" charset="0"/>
                        <a:cs typeface="Calibri" panose="020F0502020204030204" pitchFamily="34" charset="0"/>
                      </a:endParaRPr>
                    </a:p>
                    <a:p>
                      <a:r>
                        <a:rPr lang="en-US" altLang="zh-CN" dirty="0">
                          <a:latin typeface="Calibri" panose="020F0502020204030204" pitchFamily="34" charset="0"/>
                          <a:ea typeface="Calibri" panose="020F0502020204030204" pitchFamily="34" charset="0"/>
                          <a:cs typeface="Calibri" panose="020F0502020204030204" pitchFamily="34" charset="0"/>
                        </a:rPr>
                        <a:t>farmland</a:t>
                      </a:r>
                      <a:r>
                        <a:rPr lang="zh-CN" altLang="en-US" dirty="0">
                          <a:latin typeface="Calibri" panose="020F0502020204030204" pitchFamily="34" charset="0"/>
                          <a:ea typeface="UD Digi Kyokasho N" panose="02020400000000000000" pitchFamily="17" charset="-128"/>
                          <a:cs typeface="Calibri" panose="020F0502020204030204" pitchFamily="34" charset="0"/>
                        </a:rPr>
                        <a:t> </a:t>
                      </a:r>
                      <a:r>
                        <a:rPr lang="en-US" altLang="zh-CN" dirty="0">
                          <a:latin typeface="Calibri" panose="020F0502020204030204" pitchFamily="34" charset="0"/>
                          <a:ea typeface="Calibri" panose="020F0502020204030204" pitchFamily="34" charset="0"/>
                          <a:cs typeface="Calibri" panose="020F0502020204030204" pitchFamily="34" charset="0"/>
                        </a:rPr>
                        <a:t>rental</a:t>
                      </a:r>
                    </a:p>
                  </a:txBody>
                  <a:tcPr>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solidFill>
                      <a:schemeClr val="bg2"/>
                    </a:solidFill>
                  </a:tcPr>
                </a:tc>
                <a:extLst>
                  <a:ext uri="{0D108BD9-81ED-4DB2-BD59-A6C34878D82A}">
                    <a16:rowId xmlns:a16="http://schemas.microsoft.com/office/drawing/2014/main" val="2028837798"/>
                  </a:ext>
                </a:extLst>
              </a:tr>
            </a:tbl>
          </a:graphicData>
        </a:graphic>
      </p:graphicFrame>
      <p:sp>
        <p:nvSpPr>
          <p:cNvPr id="7" name="文本框 6">
            <a:extLst>
              <a:ext uri="{FF2B5EF4-FFF2-40B4-BE49-F238E27FC236}">
                <a16:creationId xmlns:a16="http://schemas.microsoft.com/office/drawing/2014/main" id="{08CFCC2D-28D7-A184-6971-BEC665FE2B9E}"/>
              </a:ext>
            </a:extLst>
          </p:cNvPr>
          <p:cNvSpPr txBox="1"/>
          <p:nvPr/>
        </p:nvSpPr>
        <p:spPr>
          <a:xfrm>
            <a:off x="586508" y="443983"/>
            <a:ext cx="6096866" cy="369332"/>
          </a:xfrm>
          <a:prstGeom prst="rect">
            <a:avLst/>
          </a:prstGeom>
          <a:noFill/>
        </p:spPr>
        <p:txBody>
          <a:bodyPr wrap="square">
            <a:spAutoFit/>
          </a:bodyPr>
          <a:lstStyle/>
          <a:p>
            <a:r>
              <a:rPr lang="ja-JP" altLang="en-US" dirty="0"/>
              <a:t>農地流動化や農地集積</a:t>
            </a:r>
            <a:r>
              <a:rPr lang="ja-JP" altLang="en-US" dirty="0">
                <a:solidFill>
                  <a:srgbClr val="FF0000"/>
                </a:solidFill>
              </a:rPr>
              <a:t>に関しての実</a:t>
            </a:r>
            <a:r>
              <a:rPr lang="ja-JP" altLang="en-US" dirty="0"/>
              <a:t>証研究</a:t>
            </a:r>
            <a:endParaRPr lang="zh-CN" altLang="en-US" dirty="0"/>
          </a:p>
        </p:txBody>
      </p:sp>
    </p:spTree>
    <p:extLst>
      <p:ext uri="{BB962C8B-B14F-4D97-AF65-F5344CB8AC3E}">
        <p14:creationId xmlns:p14="http://schemas.microsoft.com/office/powerpoint/2010/main" val="780653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3A4D710F-8E3D-5715-7F64-A228C90A314A}"/>
              </a:ext>
            </a:extLst>
          </p:cNvPr>
          <p:cNvGraphicFramePr>
            <a:graphicFrameLocks noGrp="1"/>
          </p:cNvGraphicFramePr>
          <p:nvPr>
            <p:extLst>
              <p:ext uri="{D42A27DB-BD31-4B8C-83A1-F6EECF244321}">
                <p14:modId xmlns:p14="http://schemas.microsoft.com/office/powerpoint/2010/main" val="1003959251"/>
              </p:ext>
            </p:extLst>
          </p:nvPr>
        </p:nvGraphicFramePr>
        <p:xfrm>
          <a:off x="462990" y="856691"/>
          <a:ext cx="11266020" cy="5821077"/>
        </p:xfrm>
        <a:graphic>
          <a:graphicData uri="http://schemas.openxmlformats.org/drawingml/2006/table">
            <a:tbl>
              <a:tblPr>
                <a:tableStyleId>{9D7B26C5-4107-4FEC-AEDC-1716B250A1EF}</a:tableStyleId>
              </a:tblPr>
              <a:tblGrid>
                <a:gridCol w="1194360">
                  <a:extLst>
                    <a:ext uri="{9D8B030D-6E8A-4147-A177-3AD203B41FA5}">
                      <a16:colId xmlns:a16="http://schemas.microsoft.com/office/drawing/2014/main" val="1873928381"/>
                    </a:ext>
                  </a:extLst>
                </a:gridCol>
                <a:gridCol w="2410691">
                  <a:extLst>
                    <a:ext uri="{9D8B030D-6E8A-4147-A177-3AD203B41FA5}">
                      <a16:colId xmlns:a16="http://schemas.microsoft.com/office/drawing/2014/main" val="1017831132"/>
                    </a:ext>
                  </a:extLst>
                </a:gridCol>
                <a:gridCol w="6551468">
                  <a:extLst>
                    <a:ext uri="{9D8B030D-6E8A-4147-A177-3AD203B41FA5}">
                      <a16:colId xmlns:a16="http://schemas.microsoft.com/office/drawing/2014/main" val="1093471788"/>
                    </a:ext>
                  </a:extLst>
                </a:gridCol>
                <a:gridCol w="576696">
                  <a:extLst>
                    <a:ext uri="{9D8B030D-6E8A-4147-A177-3AD203B41FA5}">
                      <a16:colId xmlns:a16="http://schemas.microsoft.com/office/drawing/2014/main" val="3346888533"/>
                    </a:ext>
                  </a:extLst>
                </a:gridCol>
                <a:gridCol w="532805">
                  <a:extLst>
                    <a:ext uri="{9D8B030D-6E8A-4147-A177-3AD203B41FA5}">
                      <a16:colId xmlns:a16="http://schemas.microsoft.com/office/drawing/2014/main" val="1411427258"/>
                    </a:ext>
                  </a:extLst>
                </a:gridCol>
              </a:tblGrid>
              <a:tr h="452545">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Variable Type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変数種別</a:t>
                      </a:r>
                    </a:p>
                  </a:txBody>
                  <a:tcPr marL="14902" marR="14902" marT="7451" marB="7451" anchor="ctr">
                    <a:lnB w="12700" cap="flat" cmpd="sng" algn="ctr">
                      <a:solidFill>
                        <a:schemeClr val="tx1"/>
                      </a:solidFill>
                      <a:prstDash val="solid"/>
                      <a:round/>
                      <a:headEnd type="none" w="med" len="med"/>
                      <a:tailEnd type="none" w="med" len="med"/>
                    </a:lnB>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Variable Name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変数名</a:t>
                      </a:r>
                    </a:p>
                  </a:txBody>
                  <a:tcPr marL="14902" marR="14902" marT="7451" marB="7451" anchor="ctr">
                    <a:lnB w="12700" cap="flat" cmpd="sng" algn="ctr">
                      <a:solidFill>
                        <a:schemeClr val="tx1"/>
                      </a:solidFill>
                      <a:prstDash val="solid"/>
                      <a:round/>
                      <a:headEnd type="none" w="med" len="med"/>
                      <a:tailEnd type="none" w="med" len="med"/>
                    </a:lnB>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Definition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定義</a:t>
                      </a:r>
                    </a:p>
                  </a:txBody>
                  <a:tcPr marL="14902" marR="14902" marT="7451" marB="7451" anchor="ctr">
                    <a:lnB w="12700" cap="flat" cmpd="sng" algn="ctr">
                      <a:solidFill>
                        <a:schemeClr val="tx1"/>
                      </a:solidFill>
                      <a:prstDash val="solid"/>
                      <a:round/>
                      <a:headEnd type="none" w="med" len="med"/>
                      <a:tailEnd type="none" w="med" len="med"/>
                    </a:lnB>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Mean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平均</a:t>
                      </a:r>
                    </a:p>
                  </a:txBody>
                  <a:tcPr marL="14902" marR="14902" marT="7451" marB="7451" anchor="ctr">
                    <a:lnB w="12700" cap="flat" cmpd="sng" algn="ctr">
                      <a:solidFill>
                        <a:schemeClr val="tx1"/>
                      </a:solidFill>
                      <a:prstDash val="solid"/>
                      <a:round/>
                      <a:headEnd type="none" w="med" len="med"/>
                      <a:tailEnd type="none" w="med" len="med"/>
                    </a:lnB>
                  </a:tcPr>
                </a:tc>
                <a:tc>
                  <a:txBody>
                    <a:bodyPr/>
                    <a:lstStyle/>
                    <a:p>
                      <a:pPr>
                        <a:buNone/>
                      </a:pPr>
                      <a:r>
                        <a:rPr lang="en-US" altLang="zh-TW" sz="1400" b="0" dirty="0">
                          <a:latin typeface="Calibri" panose="020F0502020204030204" pitchFamily="34" charset="0"/>
                          <a:ea typeface="Calibri" panose="020F0502020204030204" pitchFamily="34" charset="0"/>
                          <a:cs typeface="Calibri" panose="020F0502020204030204" pitchFamily="34" charset="0"/>
                        </a:rPr>
                        <a:t>SD / </a:t>
                      </a:r>
                      <a:r>
                        <a:rPr lang="zh-TW" altLang="en-US" sz="1400" b="0" dirty="0">
                          <a:latin typeface="Calibri" panose="020F0502020204030204" pitchFamily="34" charset="0"/>
                          <a:ea typeface="UD Digi Kyokasho N" panose="02020400000000000000" pitchFamily="17" charset="-128"/>
                          <a:cs typeface="Calibri" panose="020F0502020204030204" pitchFamily="34" charset="0"/>
                        </a:rPr>
                        <a:t>標準偏差</a:t>
                      </a:r>
                    </a:p>
                  </a:txBody>
                  <a:tcPr marL="14902" marR="14902" marT="7451" marB="7451"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658596"/>
                  </a:ext>
                </a:extLst>
              </a:tr>
              <a:tr h="671183">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Dependent Variable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目的変数</a:t>
                      </a:r>
                    </a:p>
                  </a:txBody>
                  <a:tcPr marL="14902" marR="14902" marT="7451" marB="745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Rental area rate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借入面積率</a:t>
                      </a:r>
                    </a:p>
                  </a:txBody>
                  <a:tcPr marL="14902" marR="14902" marT="7451" marB="745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Area of rented farmland / total farmland area of farming entities with managed farmland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借入</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している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耕地面積</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経営耕地</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のある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実農業経営体</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耕地面積</a:t>
                      </a:r>
                    </a:p>
                  </a:txBody>
                  <a:tcPr marL="14902" marR="14902" marT="7451" marB="745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0.33</a:t>
                      </a:r>
                    </a:p>
                  </a:txBody>
                  <a:tcPr marL="14902" marR="14902" marT="7451" marB="745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0.18</a:t>
                      </a:r>
                    </a:p>
                  </a:txBody>
                  <a:tcPr marL="14902" marR="14902" marT="7451" marB="745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70107926"/>
                  </a:ext>
                </a:extLst>
              </a:tr>
              <a:tr h="671183">
                <a:tc rowSpan="8">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Explanatory Variable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説明変数</a:t>
                      </a:r>
                    </a:p>
                  </a:txBody>
                  <a:tcPr marL="14902" marR="14902" marT="7451" marB="7451" anchor="ctr">
                    <a:lnT w="19050" cap="flat" cmpd="sng" algn="ctr">
                      <a:solidFill>
                        <a:schemeClr val="tx1"/>
                      </a:solidFill>
                      <a:prstDash val="solid"/>
                      <a:round/>
                      <a:headEnd type="none" w="med" len="med"/>
                      <a:tailEnd type="none" w="med" len="med"/>
                    </a:lnT>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Incorporation rate / </a:t>
                      </a:r>
                    </a:p>
                    <a:p>
                      <a:pPr marL="0" algn="l" defTabSz="914400" rtl="0" eaLnBrk="1" latinLnBrk="0" hangingPunct="1">
                        <a:buNone/>
                      </a:pPr>
                      <a:r>
                        <a:rPr lang="en-US" sz="1400" b="0" kern="1200" dirty="0" err="1">
                          <a:solidFill>
                            <a:schemeClr val="tx1"/>
                          </a:solidFill>
                          <a:latin typeface="Calibri" panose="020F0502020204030204" pitchFamily="34" charset="0"/>
                          <a:ea typeface="UD Digi Kyokasho N" panose="02020400000000000000" pitchFamily="17" charset="-128"/>
                          <a:cs typeface="Calibri" panose="020F0502020204030204" pitchFamily="34" charset="0"/>
                        </a:rPr>
                        <a:t>法人化率</a:t>
                      </a:r>
                      <a:endParaRPr lang="en-US" sz="1400" b="0" kern="1200" dirty="0">
                        <a:solidFill>
                          <a:schemeClr val="tx1"/>
                        </a:solidFill>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lnT w="1905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incorporated entities / total number of farming entities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法人化</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している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経営体数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全農業経営体数</a:t>
                      </a:r>
                    </a:p>
                  </a:txBody>
                  <a:tcPr marL="14902" marR="14902" marT="7451" marB="7451" anchor="ctr">
                    <a:lnT w="1905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0.02</a:t>
                      </a:r>
                    </a:p>
                  </a:txBody>
                  <a:tcPr marL="14902" marR="14902" marT="7451" marB="7451" anchor="ctr">
                    <a:lnT w="1905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0.02</a:t>
                      </a:r>
                    </a:p>
                  </a:txBody>
                  <a:tcPr marL="14902" marR="14902" marT="7451" marB="7451" anchor="ctr">
                    <a:lnT w="1905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584732202"/>
                  </a:ext>
                </a:extLst>
              </a:tr>
              <a:tr h="452545">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Village meeting holding rate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寄</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り</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合</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いの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開催率</a:t>
                      </a:r>
                    </a:p>
                  </a:txBody>
                  <a:tcPr marL="14902" marR="14902" marT="7451" marB="7451" anchor="ctr">
                    <a:lnL w="28575" cap="flat" cmpd="sng" algn="ctr">
                      <a:solidFill>
                        <a:srgbClr val="FF0000"/>
                      </a:solidFill>
                      <a:prstDash val="solid"/>
                      <a:round/>
                      <a:headEnd type="none" w="med" len="med"/>
                      <a:tailEnd type="none" w="med" len="med"/>
                    </a:lnL>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communities holding meetings / total communities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寄</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り</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合</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いを</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開催</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している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集落数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全集落数</a:t>
                      </a:r>
                    </a:p>
                  </a:txBody>
                  <a:tcPr marL="14902" marR="14902" marT="7451" marB="7451" anchor="ctr">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0.93</a:t>
                      </a:r>
                    </a:p>
                  </a:txBody>
                  <a:tcPr marL="14902" marR="14902" marT="7451" marB="7451" anchor="ctr">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0.12</a:t>
                      </a:r>
                    </a:p>
                  </a:txBody>
                  <a:tcPr marL="14902" marR="14902" marT="7451" marB="7451" anchor="ctr">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solidFill>
                      <a:schemeClr val="bg2"/>
                    </a:solidFill>
                  </a:tcPr>
                </a:tc>
                <a:extLst>
                  <a:ext uri="{0D108BD9-81ED-4DB2-BD59-A6C34878D82A}">
                    <a16:rowId xmlns:a16="http://schemas.microsoft.com/office/drawing/2014/main" val="915205951"/>
                  </a:ext>
                </a:extLst>
              </a:tr>
              <a:tr h="452545">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Farmland conservation rate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農地保全率</a:t>
                      </a:r>
                    </a:p>
                  </a:txBody>
                  <a:tcPr marL="14902" marR="14902" marT="7451" marB="7451" anchor="ctr">
                    <a:lnL w="28575" cap="flat" cmpd="sng" algn="ctr">
                      <a:solidFill>
                        <a:srgbClr val="FF0000"/>
                      </a:solidFill>
                      <a:prstDash val="solid"/>
                      <a:round/>
                      <a:headEnd type="none" w="med" len="med"/>
                      <a:tailEnd type="none" w="med" len="med"/>
                    </a:lnL>
                    <a:lnB w="28575" cap="flat" cmpd="sng" algn="ctr">
                      <a:solidFill>
                        <a:srgbClr val="FF0000"/>
                      </a:solidFill>
                      <a:prstDash val="solid"/>
                      <a:round/>
                      <a:headEnd type="none" w="med" len="med"/>
                      <a:tailEnd type="none" w="med" len="med"/>
                    </a:lnB>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communities conserving farmland / total communities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農地</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を</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保全</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している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集落数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全集落数</a:t>
                      </a:r>
                    </a:p>
                  </a:txBody>
                  <a:tcPr marL="14902" marR="14902" marT="7451" marB="7451" anchor="ctr">
                    <a:lnB w="28575" cap="flat" cmpd="sng" algn="ctr">
                      <a:solidFill>
                        <a:srgbClr val="FF0000"/>
                      </a:solidFill>
                      <a:prstDash val="solid"/>
                      <a:round/>
                      <a:headEnd type="none" w="med" len="med"/>
                      <a:tailEnd type="none" w="med" len="med"/>
                    </a:lnB>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0.40</a:t>
                      </a:r>
                    </a:p>
                  </a:txBody>
                  <a:tcPr marL="14902" marR="14902" marT="7451" marB="7451" anchor="ctr">
                    <a:lnB w="28575" cap="flat" cmpd="sng" algn="ctr">
                      <a:solidFill>
                        <a:srgbClr val="FF0000"/>
                      </a:solidFill>
                      <a:prstDash val="solid"/>
                      <a:round/>
                      <a:headEnd type="none" w="med" len="med"/>
                      <a:tailEnd type="none" w="med" len="med"/>
                    </a:lnB>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0.30</a:t>
                      </a:r>
                    </a:p>
                  </a:txBody>
                  <a:tcPr marL="14902" marR="14902" marT="7451" marB="7451" anchor="ctr">
                    <a:lnR w="28575" cap="flat" cmpd="sng" algn="ctr">
                      <a:solidFill>
                        <a:srgbClr val="FF0000"/>
                      </a:solidFill>
                      <a:prstDash val="solid"/>
                      <a:round/>
                      <a:headEnd type="none" w="med" len="med"/>
                      <a:tailEnd type="none" w="med" len="med"/>
                    </a:lnR>
                    <a:lnB w="28575"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727272036"/>
                  </a:ext>
                </a:extLst>
              </a:tr>
              <a:tr h="671183">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Total managed farmland area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経営耕地総面積</a:t>
                      </a:r>
                    </a:p>
                  </a:txBody>
                  <a:tcPr marL="14902" marR="14902" marT="7451" marB="7451" anchor="ctr">
                    <a:lnL w="28575" cap="flat" cmpd="sng" algn="ctr">
                      <a:solidFill>
                        <a:srgbClr val="0070C0"/>
                      </a:solidFill>
                      <a:prstDash val="solid"/>
                      <a:round/>
                      <a:headEnd type="none" w="med" len="med"/>
                      <a:tailEnd type="none" w="med" len="med"/>
                    </a:lnL>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Log of total farmland area (a) managed by farming entities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農業経営体</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が</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経営</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している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総耕地面積（</a:t>
                      </a:r>
                      <a:r>
                        <a:rPr lang="en-US" sz="1400" b="0" dirty="0">
                          <a:latin typeface="Calibri" panose="020F0502020204030204" pitchFamily="34" charset="0"/>
                          <a:ea typeface="Calibri" panose="020F0502020204030204" pitchFamily="34" charset="0"/>
                          <a:cs typeface="Calibri" panose="020F0502020204030204" pitchFamily="34" charset="0"/>
                        </a:rPr>
                        <a:t>a）</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対数値</a:t>
                      </a:r>
                    </a:p>
                  </a:txBody>
                  <a:tcPr marL="14902" marR="14902" marT="7451" marB="7451" anchor="ctr">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10.71</a:t>
                      </a:r>
                    </a:p>
                  </a:txBody>
                  <a:tcPr marL="14902" marR="14902" marT="7451" marB="7451" anchor="ctr">
                    <a:lnT w="28575" cap="flat" cmpd="sng" algn="ctr">
                      <a:solidFill>
                        <a:srgbClr val="FF0000"/>
                      </a:solidFill>
                      <a:prstDash val="solid"/>
                      <a:round/>
                      <a:headEnd type="none" w="med" len="med"/>
                      <a:tailEnd type="none" w="med" len="med"/>
                    </a:lnT>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1.45</a:t>
                      </a:r>
                    </a:p>
                  </a:txBody>
                  <a:tcPr marL="14902" marR="14902" marT="7451" marB="7451" anchor="ctr">
                    <a:lnR w="28575" cap="flat" cmpd="sng" algn="ctr">
                      <a:solidFill>
                        <a:srgbClr val="0070C0"/>
                      </a:solidFill>
                      <a:prstDash val="solid"/>
                      <a:round/>
                      <a:headEnd type="none" w="med" len="med"/>
                      <a:tailEnd type="none" w="med" len="med"/>
                    </a:lnR>
                    <a:lnT w="28575" cap="flat" cmpd="sng" algn="ctr">
                      <a:solidFill>
                        <a:srgbClr val="FF0000"/>
                      </a:solidFill>
                      <a:prstDash val="solid"/>
                      <a:round/>
                      <a:headEnd type="none" w="med" len="med"/>
                      <a:tailEnd type="none" w="med" len="med"/>
                    </a:lnT>
                    <a:solidFill>
                      <a:schemeClr val="bg2"/>
                    </a:solidFill>
                  </a:tcPr>
                </a:tc>
                <a:extLst>
                  <a:ext uri="{0D108BD9-81ED-4DB2-BD59-A6C34878D82A}">
                    <a16:rowId xmlns:a16="http://schemas.microsoft.com/office/drawing/2014/main" val="1501934696"/>
                  </a:ext>
                </a:extLst>
              </a:tr>
              <a:tr h="671183">
                <a:tc vMerge="1">
                  <a:txBody>
                    <a:bodyPr/>
                    <a:lstStyle/>
                    <a:p>
                      <a:endParaRPr lang="zh-CN" altLang="en-US"/>
                    </a:p>
                  </a:txBody>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Proportion of communities within 30 min of DID / DID</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まで</a:t>
                      </a:r>
                      <a:r>
                        <a:rPr lang="en-US" altLang="ja-JP" sz="1400" b="0" dirty="0">
                          <a:latin typeface="Calibri" panose="020F0502020204030204" pitchFamily="34" charset="0"/>
                          <a:ea typeface="Calibri" panose="020F0502020204030204" pitchFamily="34" charset="0"/>
                          <a:cs typeface="Calibri" panose="020F0502020204030204" pitchFamily="34" charset="0"/>
                        </a:rPr>
                        <a:t>30</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分以内</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集落</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割合</a:t>
                      </a:r>
                    </a:p>
                  </a:txBody>
                  <a:tcPr marL="14902" marR="14902" marT="7451" marB="7451" anchor="ctr">
                    <a:lnL w="28575" cap="flat" cmpd="sng" algn="ctr">
                      <a:solidFill>
                        <a:srgbClr val="0070C0"/>
                      </a:solidFill>
                      <a:prstDash val="solid"/>
                      <a:round/>
                      <a:headEnd type="none" w="med" len="med"/>
                      <a:tailEnd type="none" w="med" len="med"/>
                    </a:lnL>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communities within 30 minutes of DID / total communities / </a:t>
                      </a:r>
                    </a:p>
                    <a:p>
                      <a:pPr>
                        <a:buNone/>
                      </a:pPr>
                      <a:r>
                        <a:rPr lang="en-US" sz="1400" b="0" dirty="0">
                          <a:latin typeface="Calibri" panose="020F0502020204030204" pitchFamily="34" charset="0"/>
                          <a:ea typeface="Calibri" panose="020F0502020204030204" pitchFamily="34" charset="0"/>
                          <a:cs typeface="Calibri" panose="020F0502020204030204" pitchFamily="34" charset="0"/>
                        </a:rPr>
                        <a:t>DID</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までの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所要時間</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が</a:t>
                      </a:r>
                      <a:r>
                        <a:rPr lang="en-US" altLang="ja-JP" sz="1400" b="0" dirty="0">
                          <a:latin typeface="Calibri" panose="020F0502020204030204" pitchFamily="34" charset="0"/>
                          <a:ea typeface="Calibri" panose="020F0502020204030204" pitchFamily="34" charset="0"/>
                          <a:cs typeface="Calibri" panose="020F0502020204030204" pitchFamily="34" charset="0"/>
                        </a:rPr>
                        <a:t>30</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分以内</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集落数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全集落数</a:t>
                      </a:r>
                    </a:p>
                  </a:txBody>
                  <a:tcPr marL="14902" marR="14902" marT="7451" marB="7451" anchor="ctr">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0.73</a:t>
                      </a:r>
                    </a:p>
                  </a:txBody>
                  <a:tcPr marL="14902" marR="14902" marT="7451" marB="7451" anchor="ctr">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0.38</a:t>
                      </a:r>
                    </a:p>
                  </a:txBody>
                  <a:tcPr marL="14902" marR="14902" marT="7451" marB="7451" anchor="ctr">
                    <a:lnR w="28575" cap="flat" cmpd="sng" algn="ctr">
                      <a:solidFill>
                        <a:srgbClr val="0070C0"/>
                      </a:solidFill>
                      <a:prstDash val="solid"/>
                      <a:round/>
                      <a:headEnd type="none" w="med" len="med"/>
                      <a:tailEnd type="none" w="med" len="med"/>
                    </a:lnR>
                    <a:noFill/>
                  </a:tcPr>
                </a:tc>
                <a:extLst>
                  <a:ext uri="{0D108BD9-81ED-4DB2-BD59-A6C34878D82A}">
                    <a16:rowId xmlns:a16="http://schemas.microsoft.com/office/drawing/2014/main" val="1020073298"/>
                  </a:ext>
                </a:extLst>
              </a:tr>
              <a:tr h="671183">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Proportion with rice as top sales item / </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稲作</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が</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販売金額</a:t>
                      </a:r>
                      <a:r>
                        <a:rPr lang="en-US" altLang="zh-CN" sz="1400" b="0" dirty="0">
                          <a:latin typeface="Calibri" panose="020F0502020204030204" pitchFamily="34" charset="0"/>
                          <a:ea typeface="Calibri" panose="020F0502020204030204" pitchFamily="34" charset="0"/>
                          <a:cs typeface="Calibri" panose="020F0502020204030204" pitchFamily="34" charset="0"/>
                        </a:rPr>
                        <a:t>1</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位</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である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割合</a:t>
                      </a:r>
                    </a:p>
                  </a:txBody>
                  <a:tcPr marL="14902" marR="14902" marT="7451" marB="7451" anchor="ctr">
                    <a:lnL w="28575" cap="flat" cmpd="sng" algn="ctr">
                      <a:solidFill>
                        <a:srgbClr val="0070C0"/>
                      </a:solidFill>
                      <a:prstDash val="solid"/>
                      <a:round/>
                      <a:headEnd type="none" w="med" len="med"/>
                      <a:tailEnd type="none" w="med" len="med"/>
                    </a:lnL>
                    <a:lnB w="28575" cap="flat" cmpd="sng" algn="ctr">
                      <a:solidFill>
                        <a:srgbClr val="0070C0"/>
                      </a:solidFill>
                      <a:prstDash val="solid"/>
                      <a:round/>
                      <a:headEnd type="none" w="med" len="med"/>
                      <a:tailEnd type="none" w="med" len="med"/>
                    </a:lnB>
                    <a:solidFill>
                      <a:schemeClr val="bg2"/>
                    </a:solid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entities with rice as top selling crop / total farming entities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稲作</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が</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農作物販売金額</a:t>
                      </a:r>
                      <a:r>
                        <a:rPr lang="en-US" altLang="zh-CN" sz="1400" b="0" dirty="0">
                          <a:latin typeface="Calibri" panose="020F0502020204030204" pitchFamily="34" charset="0"/>
                          <a:ea typeface="Calibri" panose="020F0502020204030204" pitchFamily="34" charset="0"/>
                          <a:cs typeface="Calibri" panose="020F0502020204030204" pitchFamily="34" charset="0"/>
                        </a:rPr>
                        <a:t>1</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位</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である</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経営体数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全農業経営体数</a:t>
                      </a:r>
                    </a:p>
                  </a:txBody>
                  <a:tcPr marL="14902" marR="14902" marT="7451" marB="7451" anchor="ctr">
                    <a:lnB w="28575" cap="flat" cmpd="sng" algn="ctr">
                      <a:solidFill>
                        <a:srgbClr val="0070C0"/>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0.46</a:t>
                      </a:r>
                    </a:p>
                  </a:txBody>
                  <a:tcPr marL="14902" marR="14902" marT="7451" marB="7451" anchor="ctr">
                    <a:lnB w="28575" cap="flat" cmpd="sng" algn="ctr">
                      <a:solidFill>
                        <a:srgbClr val="0070C0"/>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0.28</a:t>
                      </a:r>
                    </a:p>
                  </a:txBody>
                  <a:tcPr marL="14902" marR="14902" marT="7451" marB="7451" anchor="ctr">
                    <a:lnR w="28575" cap="flat" cmpd="sng" algn="ctr">
                      <a:solidFill>
                        <a:srgbClr val="0070C0"/>
                      </a:solidFill>
                      <a:prstDash val="solid"/>
                      <a:round/>
                      <a:headEnd type="none" w="med" len="med"/>
                      <a:tailEnd type="none" w="med" len="med"/>
                    </a:lnR>
                    <a:lnB w="28575" cap="flat" cmpd="sng" algn="ctr">
                      <a:solidFill>
                        <a:srgbClr val="0070C0"/>
                      </a:solidFill>
                      <a:prstDash val="solid"/>
                      <a:round/>
                      <a:headEnd type="none" w="med" len="med"/>
                      <a:tailEnd type="none" w="med" len="med"/>
                    </a:lnB>
                    <a:solidFill>
                      <a:schemeClr val="bg2"/>
                    </a:solidFill>
                  </a:tcPr>
                </a:tc>
                <a:extLst>
                  <a:ext uri="{0D108BD9-81ED-4DB2-BD59-A6C34878D82A}">
                    <a16:rowId xmlns:a16="http://schemas.microsoft.com/office/drawing/2014/main" val="3104900463"/>
                  </a:ext>
                </a:extLst>
              </a:tr>
              <a:tr h="452545">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Average age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平均年齢</a:t>
                      </a:r>
                    </a:p>
                  </a:txBody>
                  <a:tcPr marL="14902" marR="14902" marT="7451" marB="7451" anchor="ctr">
                    <a:lnL w="28575" cap="flat" cmpd="sng" algn="ctr">
                      <a:solidFill>
                        <a:srgbClr val="00B050"/>
                      </a:solidFill>
                      <a:prstDash val="solid"/>
                      <a:round/>
                      <a:headEnd type="none" w="med" len="med"/>
                      <a:tailEnd type="none" w="med" len="med"/>
                    </a:lnL>
                    <a:lnT w="28575" cap="flat" cmpd="sng" algn="ctr">
                      <a:solidFill>
                        <a:srgbClr val="0070C0"/>
                      </a:solidFill>
                      <a:prstDash val="solid"/>
                      <a:round/>
                      <a:headEnd type="none" w="med" len="med"/>
                      <a:tailEnd type="none" w="med" len="med"/>
                    </a:lnT>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Average age of farm workers in individual management entities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個人経営体</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農業従事者</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平均年齢</a:t>
                      </a:r>
                    </a:p>
                  </a:txBody>
                  <a:tcPr marL="14902" marR="14902" marT="7451" marB="7451" anchor="ctr">
                    <a:lnT w="28575" cap="flat" cmpd="sng" algn="ctr">
                      <a:solidFill>
                        <a:srgbClr val="0070C0"/>
                      </a:solidFill>
                      <a:prstDash val="solid"/>
                      <a:round/>
                      <a:headEnd type="none" w="med" len="med"/>
                      <a:tailEnd type="none" w="med" len="med"/>
                    </a:lnT>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60.74</a:t>
                      </a:r>
                    </a:p>
                  </a:txBody>
                  <a:tcPr marL="14902" marR="14902" marT="7451" marB="7451" anchor="ctr">
                    <a:lnT w="28575" cap="flat" cmpd="sng" algn="ctr">
                      <a:solidFill>
                        <a:srgbClr val="0070C0"/>
                      </a:solidFill>
                      <a:prstDash val="solid"/>
                      <a:round/>
                      <a:headEnd type="none" w="med" len="med"/>
                      <a:tailEnd type="none" w="med" len="med"/>
                    </a:lnT>
                    <a:no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2.92</a:t>
                      </a:r>
                    </a:p>
                  </a:txBody>
                  <a:tcPr marL="14902" marR="14902" marT="7451" marB="7451" anchor="ctr">
                    <a:lnR w="28575" cap="flat" cmpd="sng" algn="ctr">
                      <a:solidFill>
                        <a:srgbClr val="00B050"/>
                      </a:solidFill>
                      <a:prstDash val="solid"/>
                      <a:round/>
                      <a:headEnd type="none" w="med" len="med"/>
                      <a:tailEnd type="none" w="med" len="med"/>
                    </a:lnR>
                    <a:lnT w="28575" cap="flat" cmpd="sng" algn="ctr">
                      <a:solidFill>
                        <a:srgbClr val="0070C0"/>
                      </a:solidFill>
                      <a:prstDash val="solid"/>
                      <a:round/>
                      <a:headEnd type="none" w="med" len="med"/>
                      <a:tailEnd type="none" w="med" len="med"/>
                    </a:lnT>
                    <a:noFill/>
                  </a:tcPr>
                </a:tc>
                <a:extLst>
                  <a:ext uri="{0D108BD9-81ED-4DB2-BD59-A6C34878D82A}">
                    <a16:rowId xmlns:a16="http://schemas.microsoft.com/office/drawing/2014/main" val="2158289775"/>
                  </a:ext>
                </a:extLst>
              </a:tr>
              <a:tr h="452545">
                <a:tc vMerge="1">
                  <a:txBody>
                    <a:bodyPr/>
                    <a:lstStyle/>
                    <a:p>
                      <a:pPr>
                        <a:buNone/>
                      </a:pPr>
                      <a:endParaRPr lang="zh-CN" altLang="en-US" sz="1400" b="0" dirty="0">
                        <a:latin typeface="Calibri" panose="020F0502020204030204" pitchFamily="34" charset="0"/>
                        <a:ea typeface="UD Digi Kyokasho N" panose="02020400000000000000" pitchFamily="17" charset="-128"/>
                        <a:cs typeface="Calibri" panose="020F0502020204030204" pitchFamily="34" charset="0"/>
                      </a:endParaRPr>
                    </a:p>
                  </a:txBody>
                  <a:tcPr marL="14902" marR="14902" marT="7451" marB="7451" anchor="ctr">
                    <a:no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Successor securing rate / </a:t>
                      </a:r>
                    </a:p>
                    <a:p>
                      <a:pPr>
                        <a:buNone/>
                      </a:pP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後継者</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確保率</a:t>
                      </a:r>
                    </a:p>
                  </a:txBody>
                  <a:tcPr marL="14902" marR="14902" marT="7451" marB="7451" anchor="ctr">
                    <a:lnL w="28575" cap="flat" cmpd="sng" algn="ctr">
                      <a:solidFill>
                        <a:srgbClr val="00B050"/>
                      </a:solidFill>
                      <a:prstDash val="solid"/>
                      <a:round/>
                      <a:headEnd type="none" w="med" len="med"/>
                      <a:tailEnd type="none" w="med" len="med"/>
                    </a:lnL>
                    <a:lnB w="28575" cap="flat" cmpd="sng" algn="ctr">
                      <a:solidFill>
                        <a:srgbClr val="00B050"/>
                      </a:solidFill>
                      <a:prstDash val="solid"/>
                      <a:round/>
                      <a:headEnd type="none" w="med" len="med"/>
                      <a:tailEnd type="none" w="med" len="med"/>
                    </a:lnB>
                    <a:solidFill>
                      <a:schemeClr val="bg2"/>
                    </a:solidFill>
                  </a:tcPr>
                </a:tc>
                <a:tc>
                  <a:txBody>
                    <a:bodyPr/>
                    <a:lstStyle/>
                    <a:p>
                      <a:pPr>
                        <a:buNone/>
                      </a:pPr>
                      <a:r>
                        <a:rPr lang="en-US" sz="1400" b="0" dirty="0">
                          <a:latin typeface="Calibri" panose="020F0502020204030204" pitchFamily="34" charset="0"/>
                          <a:ea typeface="Calibri" panose="020F0502020204030204" pitchFamily="34" charset="0"/>
                          <a:cs typeface="Calibri" panose="020F0502020204030204" pitchFamily="34" charset="0"/>
                        </a:rPr>
                        <a:t>Number of commercial farms with a successor 5 years prior / total commercial farms / </a:t>
                      </a:r>
                    </a:p>
                    <a:p>
                      <a:pPr>
                        <a:buNone/>
                      </a:pPr>
                      <a:r>
                        <a:rPr lang="en-US" sz="1400" b="0" dirty="0">
                          <a:latin typeface="Calibri" panose="020F0502020204030204" pitchFamily="34" charset="0"/>
                          <a:ea typeface="Calibri" panose="020F0502020204030204" pitchFamily="34" charset="0"/>
                          <a:cs typeface="Calibri" panose="020F0502020204030204" pitchFamily="34" charset="0"/>
                        </a:rPr>
                        <a:t>5</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年前</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に</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後継者</a:t>
                      </a:r>
                      <a:r>
                        <a:rPr lang="ja-JP" altLang="en-US" sz="1400" b="0" dirty="0">
                          <a:latin typeface="Calibri" panose="020F0502020204030204" pitchFamily="34" charset="0"/>
                          <a:ea typeface="UD Digi Kyokasho N" panose="02020400000000000000" pitchFamily="17" charset="-128"/>
                          <a:cs typeface="Calibri" panose="020F0502020204030204" pitchFamily="34" charset="0"/>
                        </a:rPr>
                        <a:t>がいた</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販売農家数</a:t>
                      </a:r>
                      <a:r>
                        <a:rPr lang="en-US" altLang="zh-CN" sz="1400" b="0" dirty="0">
                          <a:latin typeface="Calibri" panose="020F0502020204030204" pitchFamily="34" charset="0"/>
                          <a:ea typeface="Calibri" panose="020F0502020204030204" pitchFamily="34" charset="0"/>
                          <a:cs typeface="Calibri" panose="020F0502020204030204" pitchFamily="34" charset="0"/>
                        </a:rPr>
                        <a:t>/</a:t>
                      </a:r>
                      <a:r>
                        <a:rPr lang="zh-CN" altLang="en-US" sz="1400" b="0" dirty="0">
                          <a:latin typeface="Calibri" panose="020F0502020204030204" pitchFamily="34" charset="0"/>
                          <a:ea typeface="UD Digi Kyokasho N" panose="02020400000000000000" pitchFamily="17" charset="-128"/>
                          <a:cs typeface="Calibri" panose="020F0502020204030204" pitchFamily="34" charset="0"/>
                        </a:rPr>
                        <a:t>全販売農家数</a:t>
                      </a:r>
                    </a:p>
                  </a:txBody>
                  <a:tcPr marL="14902" marR="14902" marT="7451" marB="7451" anchor="ctr">
                    <a:lnB w="28575" cap="flat" cmpd="sng" algn="ctr">
                      <a:solidFill>
                        <a:srgbClr val="00B050"/>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0.56</a:t>
                      </a:r>
                    </a:p>
                  </a:txBody>
                  <a:tcPr marL="14902" marR="14902" marT="7451" marB="7451" anchor="ctr">
                    <a:lnB w="28575" cap="flat" cmpd="sng" algn="ctr">
                      <a:solidFill>
                        <a:srgbClr val="00B050"/>
                      </a:solidFill>
                      <a:prstDash val="solid"/>
                      <a:round/>
                      <a:headEnd type="none" w="med" len="med"/>
                      <a:tailEnd type="none" w="med" len="med"/>
                    </a:lnB>
                    <a:solidFill>
                      <a:schemeClr val="bg2"/>
                    </a:solidFill>
                  </a:tcPr>
                </a:tc>
                <a:tc>
                  <a:txBody>
                    <a:bodyPr/>
                    <a:lstStyle/>
                    <a:p>
                      <a:pPr>
                        <a:buNone/>
                      </a:pPr>
                      <a:r>
                        <a:rPr lang="en-US" altLang="zh-CN" sz="1400" b="0" dirty="0">
                          <a:latin typeface="Calibri" panose="020F0502020204030204" pitchFamily="34" charset="0"/>
                          <a:ea typeface="Calibri" panose="020F0502020204030204" pitchFamily="34" charset="0"/>
                          <a:cs typeface="Calibri" panose="020F0502020204030204" pitchFamily="34" charset="0"/>
                        </a:rPr>
                        <a:t>0.13</a:t>
                      </a:r>
                    </a:p>
                  </a:txBody>
                  <a:tcPr marL="14902" marR="14902" marT="7451" marB="7451" anchor="ctr">
                    <a:lnR w="28575" cap="flat" cmpd="sng" algn="ctr">
                      <a:solidFill>
                        <a:srgbClr val="00B050"/>
                      </a:solidFill>
                      <a:prstDash val="solid"/>
                      <a:round/>
                      <a:headEnd type="none" w="med" len="med"/>
                      <a:tailEnd type="none" w="med" len="med"/>
                    </a:lnR>
                    <a:lnB w="28575" cap="flat" cmpd="sng" algn="ctr">
                      <a:solidFill>
                        <a:srgbClr val="00B050"/>
                      </a:solidFill>
                      <a:prstDash val="solid"/>
                      <a:round/>
                      <a:headEnd type="none" w="med" len="med"/>
                      <a:tailEnd type="none" w="med" len="med"/>
                    </a:lnB>
                    <a:solidFill>
                      <a:schemeClr val="bg2"/>
                    </a:solidFill>
                  </a:tcPr>
                </a:tc>
                <a:extLst>
                  <a:ext uri="{0D108BD9-81ED-4DB2-BD59-A6C34878D82A}">
                    <a16:rowId xmlns:a16="http://schemas.microsoft.com/office/drawing/2014/main" val="1314149746"/>
                  </a:ext>
                </a:extLst>
              </a:tr>
            </a:tbl>
          </a:graphicData>
        </a:graphic>
      </p:graphicFrame>
      <p:grpSp>
        <p:nvGrpSpPr>
          <p:cNvPr id="35" name="组合 34">
            <a:extLst>
              <a:ext uri="{FF2B5EF4-FFF2-40B4-BE49-F238E27FC236}">
                <a16:creationId xmlns:a16="http://schemas.microsoft.com/office/drawing/2014/main" id="{2DF961C2-6015-28E9-CF5B-BDAFB587715B}"/>
              </a:ext>
            </a:extLst>
          </p:cNvPr>
          <p:cNvGrpSpPr/>
          <p:nvPr/>
        </p:nvGrpSpPr>
        <p:grpSpPr>
          <a:xfrm>
            <a:off x="11729010" y="2408003"/>
            <a:ext cx="590548" cy="4185662"/>
            <a:chOff x="11722246" y="2626212"/>
            <a:chExt cx="590548" cy="4185662"/>
          </a:xfrm>
        </p:grpSpPr>
        <p:sp>
          <p:nvSpPr>
            <p:cNvPr id="30" name="文本框 29">
              <a:extLst>
                <a:ext uri="{FF2B5EF4-FFF2-40B4-BE49-F238E27FC236}">
                  <a16:creationId xmlns:a16="http://schemas.microsoft.com/office/drawing/2014/main" id="{10A49502-41A3-FB5F-C8FE-608556DDB4EE}"/>
                </a:ext>
              </a:extLst>
            </p:cNvPr>
            <p:cNvSpPr txBox="1"/>
            <p:nvPr/>
          </p:nvSpPr>
          <p:spPr>
            <a:xfrm>
              <a:off x="11728740" y="2626212"/>
              <a:ext cx="442912" cy="1200329"/>
            </a:xfrm>
            <a:prstGeom prst="rect">
              <a:avLst/>
            </a:prstGeom>
            <a:noFill/>
          </p:spPr>
          <p:txBody>
            <a:bodyPr wrap="square">
              <a:spAutoFit/>
            </a:bodyPr>
            <a:lstStyle/>
            <a:p>
              <a:r>
                <a:rPr lang="zh-CN" altLang="en-US" dirty="0">
                  <a:solidFill>
                    <a:srgbClr val="FF0000"/>
                  </a:solidFill>
                  <a:latin typeface="UD Digi Kyokasho N" panose="02020400000000000000" pitchFamily="17" charset="-128"/>
                  <a:ea typeface="UD Digi Kyokasho N" panose="02020400000000000000" pitchFamily="17" charset="-128"/>
                </a:rPr>
                <a:t>集落機能</a:t>
              </a:r>
            </a:p>
          </p:txBody>
        </p:sp>
        <p:sp>
          <p:nvSpPr>
            <p:cNvPr id="32" name="文本框 31">
              <a:extLst>
                <a:ext uri="{FF2B5EF4-FFF2-40B4-BE49-F238E27FC236}">
                  <a16:creationId xmlns:a16="http://schemas.microsoft.com/office/drawing/2014/main" id="{00F06E6A-CCDB-5E6B-A7BE-4B3C9B797D24}"/>
                </a:ext>
              </a:extLst>
            </p:cNvPr>
            <p:cNvSpPr txBox="1"/>
            <p:nvPr/>
          </p:nvSpPr>
          <p:spPr>
            <a:xfrm>
              <a:off x="11722246" y="3826541"/>
              <a:ext cx="449406" cy="1200329"/>
            </a:xfrm>
            <a:prstGeom prst="rect">
              <a:avLst/>
            </a:prstGeom>
            <a:noFill/>
          </p:spPr>
          <p:txBody>
            <a:bodyPr wrap="square">
              <a:spAutoFit/>
            </a:bodyPr>
            <a:lstStyle/>
            <a:p>
              <a:r>
                <a:rPr lang="zh-CN" altLang="en-US" dirty="0">
                  <a:solidFill>
                    <a:srgbClr val="0070C0"/>
                  </a:solidFill>
                  <a:latin typeface="UD Digi Kyokasho N" panose="02020400000000000000" pitchFamily="17" charset="-128"/>
                  <a:ea typeface="UD Digi Kyokasho N" panose="02020400000000000000" pitchFamily="17" charset="-128"/>
                </a:rPr>
                <a:t>地域特性</a:t>
              </a:r>
            </a:p>
          </p:txBody>
        </p:sp>
        <p:sp>
          <p:nvSpPr>
            <p:cNvPr id="34" name="文本框 33">
              <a:extLst>
                <a:ext uri="{FF2B5EF4-FFF2-40B4-BE49-F238E27FC236}">
                  <a16:creationId xmlns:a16="http://schemas.microsoft.com/office/drawing/2014/main" id="{AEB26B95-8B98-FE2E-C791-08E54AF20EBD}"/>
                </a:ext>
              </a:extLst>
            </p:cNvPr>
            <p:cNvSpPr txBox="1"/>
            <p:nvPr/>
          </p:nvSpPr>
          <p:spPr>
            <a:xfrm>
              <a:off x="11749088" y="5057548"/>
              <a:ext cx="563706" cy="1754326"/>
            </a:xfrm>
            <a:prstGeom prst="rect">
              <a:avLst/>
            </a:prstGeom>
            <a:noFill/>
          </p:spPr>
          <p:txBody>
            <a:bodyPr wrap="square">
              <a:spAutoFit/>
            </a:bodyPr>
            <a:lstStyle/>
            <a:p>
              <a:r>
                <a:rPr lang="ja-JP" altLang="en-US" dirty="0">
                  <a:solidFill>
                    <a:srgbClr val="00B050"/>
                  </a:solidFill>
                  <a:latin typeface="UD Digi Kyokasho N" panose="02020400000000000000" pitchFamily="17" charset="-128"/>
                  <a:ea typeface="UD Digi Kyokasho N" panose="02020400000000000000" pitchFamily="17" charset="-128"/>
                </a:rPr>
                <a:t>経営体の特性</a:t>
              </a:r>
              <a:endParaRPr lang="zh-CN" altLang="en-US" dirty="0">
                <a:solidFill>
                  <a:srgbClr val="00B050"/>
                </a:solidFill>
                <a:latin typeface="UD Digi Kyokasho N" panose="02020400000000000000" pitchFamily="17" charset="-128"/>
                <a:ea typeface="UD Digi Kyokasho N" panose="02020400000000000000" pitchFamily="17" charset="-128"/>
              </a:endParaRPr>
            </a:p>
          </p:txBody>
        </p:sp>
      </p:grpSp>
    </p:spTree>
    <p:extLst>
      <p:ext uri="{BB962C8B-B14F-4D97-AF65-F5344CB8AC3E}">
        <p14:creationId xmlns:p14="http://schemas.microsoft.com/office/powerpoint/2010/main" val="3961384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D473-9FF6-B298-E1C7-72690F497C22}"/>
            </a:ext>
          </a:extLst>
        </p:cNvPr>
        <p:cNvGrpSpPr/>
        <p:nvPr/>
      </p:nvGrpSpPr>
      <p:grpSpPr>
        <a:xfrm>
          <a:off x="0" y="0"/>
          <a:ext cx="0" cy="0"/>
          <a:chOff x="0" y="0"/>
          <a:chExt cx="0" cy="0"/>
        </a:xfrm>
      </p:grpSpPr>
      <p:grpSp>
        <p:nvGrpSpPr>
          <p:cNvPr id="21" name="组合 20">
            <a:extLst>
              <a:ext uri="{FF2B5EF4-FFF2-40B4-BE49-F238E27FC236}">
                <a16:creationId xmlns:a16="http://schemas.microsoft.com/office/drawing/2014/main" id="{C6D43FE1-E61C-86AE-6590-91A0FDA89550}"/>
              </a:ext>
            </a:extLst>
          </p:cNvPr>
          <p:cNvGrpSpPr/>
          <p:nvPr/>
        </p:nvGrpSpPr>
        <p:grpSpPr>
          <a:xfrm>
            <a:off x="980642" y="824258"/>
            <a:ext cx="6096866" cy="2235681"/>
            <a:chOff x="980642" y="824258"/>
            <a:chExt cx="6096866" cy="2235681"/>
          </a:xfrm>
        </p:grpSpPr>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27477C42-3F80-0CFB-91EB-8716A15CF7E3}"/>
                    </a:ext>
                  </a:extLst>
                </p:cNvPr>
                <p:cNvSpPr txBox="1"/>
                <p:nvPr/>
              </p:nvSpPr>
              <p:spPr>
                <a:xfrm>
                  <a:off x="980642" y="1487940"/>
                  <a:ext cx="6096866"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𝑰</m:t>
                            </m:r>
                          </m:e>
                          <m:sub>
                            <m:r>
                              <a:rPr lang="en-US" altLang="zh-CN" b="1" i="1" dirty="0" smtClean="0">
                                <a:solidFill>
                                  <a:schemeClr val="tx1"/>
                                </a:solidFill>
                                <a:latin typeface="Cambria Math" panose="02040503050406030204" pitchFamily="18" charset="0"/>
                              </a:rPr>
                              <m:t>𝒊𝒕</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1</m:t>
                            </m:r>
                          </m:sub>
                        </m:sSub>
                        <m:sSub>
                          <m:sSubPr>
                            <m:ctrlPr>
                              <a:rPr lang="en-US" altLang="zh-CN" b="1" i="1" dirty="0" smtClean="0">
                                <a:solidFill>
                                  <a:srgbClr val="0070C0"/>
                                </a:solidFill>
                                <a:latin typeface="Cambria Math" panose="02040503050406030204" pitchFamily="18" charset="0"/>
                              </a:rPr>
                            </m:ctrlPr>
                          </m:sSubPr>
                          <m:e>
                            <m:r>
                              <a:rPr lang="en-US" altLang="zh-CN" b="1" i="1" dirty="0">
                                <a:solidFill>
                                  <a:srgbClr val="0070C0"/>
                                </a:solidFill>
                                <a:latin typeface="Cambria Math" panose="02040503050406030204" pitchFamily="18" charset="0"/>
                              </a:rPr>
                              <m:t>𝒁</m:t>
                            </m:r>
                          </m:e>
                          <m:sub>
                            <m:r>
                              <a:rPr lang="en-US" altLang="zh-CN" b="1" i="1" dirty="0">
                                <a:solidFill>
                                  <a:srgbClr val="0070C0"/>
                                </a:solidFill>
                                <a:latin typeface="Cambria Math" panose="02040503050406030204" pitchFamily="18" charset="0"/>
                              </a:rPr>
                              <m:t>𝒊𝒕</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2</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err="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b="1" i="1" dirty="0" smtClean="0">
                                <a:solidFill>
                                  <a:srgbClr val="00B050"/>
                                </a:solidFill>
                                <a:latin typeface="Cambria Math" panose="02040503050406030204" pitchFamily="18" charset="0"/>
                              </a:rPr>
                            </m:ctrlPr>
                          </m:sSubPr>
                          <m:e>
                            <m:r>
                              <a:rPr lang="en-US" altLang="zh-CN" b="1" i="1" dirty="0">
                                <a:solidFill>
                                  <a:srgbClr val="00B050"/>
                                </a:solidFill>
                                <a:latin typeface="Cambria Math" panose="02040503050406030204" pitchFamily="18" charset="0"/>
                              </a:rPr>
                              <m:t>𝜺</m:t>
                            </m:r>
                          </m:e>
                          <m:sub>
                            <m:r>
                              <a:rPr lang="en-US" altLang="zh-CN" b="1" i="1" dirty="0" smtClean="0">
                                <a:solidFill>
                                  <a:srgbClr val="00B050"/>
                                </a:solidFill>
                                <a:latin typeface="Cambria Math" panose="02040503050406030204" pitchFamily="18" charset="0"/>
                              </a:rPr>
                              <m:t>𝒊𝒕</m:t>
                            </m:r>
                          </m:sub>
                        </m:sSub>
                      </m:oMath>
                    </m:oMathPara>
                  </a14:m>
                </a:p>
              </p:txBody>
            </p:sp>
          </mc:Choice>
          <mc:Fallback>
            <p:sp>
              <p:nvSpPr>
                <p:cNvPr id="5" name="文本框 4">
                  <a:extLst>
                    <a:ext uri="{FF2B5EF4-FFF2-40B4-BE49-F238E27FC236}">
                      <a16:creationId xmlns:a16="http://schemas.microsoft.com/office/drawing/2014/main" id="{27477C42-3F80-0CFB-91EB-8716A15CF7E3}"/>
                    </a:ext>
                  </a:extLst>
                </p:cNvPr>
                <p:cNvSpPr txBox="1">
                  <a:spLocks noRot="1" noChangeAspect="1" noMove="1" noResize="1" noEditPoints="1" noAdjustHandles="1" noChangeArrowheads="1" noChangeShapeType="1" noTextEdit="1"/>
                </p:cNvSpPr>
                <p:nvPr/>
              </p:nvSpPr>
              <p:spPr>
                <a:xfrm>
                  <a:off x="980642" y="1487940"/>
                  <a:ext cx="6096866" cy="369332"/>
                </a:xfrm>
                <a:prstGeom prst="rect">
                  <a:avLst/>
                </a:prstGeom>
                <a:blipFill>
                  <a:blip r:embed="rId3"/>
                  <a:stretch>
                    <a:fillRect t="-9836" b="-229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A621D621-56C4-9A56-99A6-233BE6BD8044}"/>
                    </a:ext>
                  </a:extLst>
                </p:cNvPr>
                <p:cNvSpPr txBox="1"/>
                <p:nvPr/>
              </p:nvSpPr>
              <p:spPr>
                <a:xfrm>
                  <a:off x="980642" y="2683426"/>
                  <a:ext cx="6096866" cy="3765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𝑌</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𝛽</m:t>
                            </m:r>
                          </m:e>
                          <m:sub>
                            <m:r>
                              <a:rPr lang="en-US" altLang="zh-CN" i="1" dirty="0">
                                <a:solidFill>
                                  <a:schemeClr val="tx1"/>
                                </a:solidFill>
                                <a:latin typeface="Cambria Math" panose="02040503050406030204" pitchFamily="18" charset="0"/>
                              </a:rPr>
                              <m:t>1</m:t>
                            </m:r>
                          </m:sub>
                        </m:sSub>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𝑰</m:t>
                            </m:r>
                          </m:e>
                          <m:sub>
                            <m:r>
                              <a:rPr lang="en-US" altLang="zh-CN" b="1" i="1" dirty="0" smtClean="0">
                                <a:solidFill>
                                  <a:schemeClr val="tx1"/>
                                </a:solidFill>
                                <a:latin typeface="Cambria Math" panose="02040503050406030204" pitchFamily="18" charset="0"/>
                              </a:rPr>
                              <m:t>𝒊𝒕</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2</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3</m:t>
                            </m:r>
                          </m:sub>
                        </m:sSub>
                        <m:acc>
                          <m:accPr>
                            <m:chr m:val="̂"/>
                            <m:ctrlPr>
                              <a:rPr lang="en-US" altLang="zh-CN" b="1" i="1" dirty="0" smtClean="0">
                                <a:solidFill>
                                  <a:srgbClr val="00B050"/>
                                </a:solidFill>
                                <a:latin typeface="Cambria Math" panose="02040503050406030204" pitchFamily="18" charset="0"/>
                              </a:rPr>
                            </m:ctrlPr>
                          </m:accPr>
                          <m:e>
                            <m:sSub>
                              <m:sSubPr>
                                <m:ctrlPr>
                                  <a:rPr lang="en-US" altLang="zh-CN" b="1" i="1" dirty="0">
                                    <a:solidFill>
                                      <a:srgbClr val="00B050"/>
                                    </a:solidFill>
                                    <a:latin typeface="Cambria Math" panose="02040503050406030204" pitchFamily="18" charset="0"/>
                                  </a:rPr>
                                </m:ctrlPr>
                              </m:sSubPr>
                              <m:e>
                                <m:r>
                                  <a:rPr lang="en-US" altLang="zh-CN" b="1" i="1" dirty="0">
                                    <a:solidFill>
                                      <a:srgbClr val="00B050"/>
                                    </a:solidFill>
                                    <a:latin typeface="Cambria Math" panose="02040503050406030204" pitchFamily="18" charset="0"/>
                                  </a:rPr>
                                  <m:t>𝜺</m:t>
                                </m:r>
                              </m:e>
                              <m:sub>
                                <m:r>
                                  <a:rPr lang="en-US" altLang="zh-CN" b="1" i="1" dirty="0">
                                    <a:solidFill>
                                      <a:srgbClr val="00B050"/>
                                    </a:solidFill>
                                    <a:latin typeface="Cambria Math" panose="02040503050406030204" pitchFamily="18" charset="0"/>
                                  </a:rPr>
                                  <m:t>𝒊𝒕</m:t>
                                </m:r>
                              </m:sub>
                            </m:sSub>
                          </m:e>
                        </m:acc>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err="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𝜈</m:t>
                            </m:r>
                          </m:e>
                          <m:sub>
                            <m:r>
                              <a:rPr lang="en-US" altLang="zh-CN" i="1" dirty="0">
                                <a:latin typeface="Cambria Math" panose="02040503050406030204" pitchFamily="18" charset="0"/>
                              </a:rPr>
                              <m:t>𝑖𝑡</m:t>
                            </m:r>
                          </m:sub>
                        </m:sSub>
                      </m:oMath>
                    </m:oMathPara>
                  </a14:m>
                  <a:endParaRPr lang="en-US" altLang="zh-CN"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9" name="文本框 8">
                  <a:extLst>
                    <a:ext uri="{FF2B5EF4-FFF2-40B4-BE49-F238E27FC236}">
                      <a16:creationId xmlns:a16="http://schemas.microsoft.com/office/drawing/2014/main" id="{A621D621-56C4-9A56-99A6-233BE6BD8044}"/>
                    </a:ext>
                  </a:extLst>
                </p:cNvPr>
                <p:cNvSpPr txBox="1">
                  <a:spLocks noRot="1" noChangeAspect="1" noMove="1" noResize="1" noEditPoints="1" noAdjustHandles="1" noChangeArrowheads="1" noChangeShapeType="1" noTextEdit="1"/>
                </p:cNvSpPr>
                <p:nvPr/>
              </p:nvSpPr>
              <p:spPr>
                <a:xfrm>
                  <a:off x="980642" y="2683426"/>
                  <a:ext cx="6096866" cy="376513"/>
                </a:xfrm>
                <a:prstGeom prst="rect">
                  <a:avLst/>
                </a:prstGeom>
                <a:blipFill>
                  <a:blip r:embed="rId4"/>
                  <a:stretch>
                    <a:fillRect t="-6452" b="-1129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82066193-20F4-EBDF-AFA7-E8B3E402636B}"/>
                </a:ext>
              </a:extLst>
            </p:cNvPr>
            <p:cNvSpPr txBox="1"/>
            <p:nvPr/>
          </p:nvSpPr>
          <p:spPr>
            <a:xfrm>
              <a:off x="980642" y="824258"/>
              <a:ext cx="6096866" cy="369332"/>
            </a:xfrm>
            <a:prstGeom prst="rect">
              <a:avLst/>
            </a:prstGeom>
            <a:noFill/>
          </p:spPr>
          <p:txBody>
            <a:bodyPr wrap="square">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First Stage (Instrumental Variable Regression)</a:t>
              </a:r>
              <a:endParaRPr lang="zh-CN" altLang="en-US" dirty="0">
                <a:latin typeface="Calibri" panose="020F0502020204030204" pitchFamily="34" charset="0"/>
                <a:cs typeface="Calibri" panose="020F0502020204030204" pitchFamily="34" charset="0"/>
              </a:endParaRPr>
            </a:p>
          </p:txBody>
        </p:sp>
        <p:sp>
          <p:nvSpPr>
            <p:cNvPr id="13" name="文本框 12">
              <a:extLst>
                <a:ext uri="{FF2B5EF4-FFF2-40B4-BE49-F238E27FC236}">
                  <a16:creationId xmlns:a16="http://schemas.microsoft.com/office/drawing/2014/main" id="{6666EE69-F524-C3D7-308C-5769EF4D27A2}"/>
                </a:ext>
              </a:extLst>
            </p:cNvPr>
            <p:cNvSpPr txBox="1"/>
            <p:nvPr/>
          </p:nvSpPr>
          <p:spPr>
            <a:xfrm>
              <a:off x="980642" y="2075967"/>
              <a:ext cx="6096866" cy="369332"/>
            </a:xfrm>
            <a:prstGeom prst="rect">
              <a:avLst/>
            </a:prstGeom>
            <a:noFill/>
          </p:spPr>
          <p:txBody>
            <a:bodyPr wrap="square">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Second Stage (Control Function Approach)</a:t>
              </a:r>
              <a:endParaRPr lang="zh-CN" altLang="en-US" dirty="0">
                <a:latin typeface="Calibri" panose="020F0502020204030204" pitchFamily="34" charset="0"/>
                <a:cs typeface="Calibri" panose="020F0502020204030204" pitchFamily="34" charset="0"/>
              </a:endParaRPr>
            </a:p>
          </p:txBody>
        </p:sp>
      </p:grpSp>
      <p:grpSp>
        <p:nvGrpSpPr>
          <p:cNvPr id="20" name="组合 19">
            <a:extLst>
              <a:ext uri="{FF2B5EF4-FFF2-40B4-BE49-F238E27FC236}">
                <a16:creationId xmlns:a16="http://schemas.microsoft.com/office/drawing/2014/main" id="{6F5C538A-F6EA-A0F8-3E9B-15EA4F2F6694}"/>
              </a:ext>
            </a:extLst>
          </p:cNvPr>
          <p:cNvGrpSpPr/>
          <p:nvPr/>
        </p:nvGrpSpPr>
        <p:grpSpPr>
          <a:xfrm>
            <a:off x="6455753" y="303844"/>
            <a:ext cx="6096866" cy="2141455"/>
            <a:chOff x="980642" y="4080543"/>
            <a:chExt cx="6096866" cy="2141455"/>
          </a:xfrm>
        </p:grpSpPr>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EBCDA0E8-8785-435D-24A5-D6D88378AFA0}"/>
                    </a:ext>
                  </a:extLst>
                </p:cNvPr>
                <p:cNvSpPr txBox="1"/>
                <p:nvPr/>
              </p:nvSpPr>
              <p:spPr>
                <a:xfrm>
                  <a:off x="980642" y="4668857"/>
                  <a:ext cx="6096866"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𝑰</m:t>
                            </m:r>
                          </m:e>
                          <m:sub>
                            <m:r>
                              <a:rPr lang="en-US" altLang="zh-CN" b="1" i="1" dirty="0" smtClean="0">
                                <a:solidFill>
                                  <a:schemeClr val="tx1"/>
                                </a:solidFill>
                                <a:latin typeface="Cambria Math" panose="02040503050406030204" pitchFamily="18" charset="0"/>
                              </a:rPr>
                              <m:t>𝒊𝒕</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1</m:t>
                            </m:r>
                          </m:sub>
                        </m:sSub>
                        <m:sSub>
                          <m:sSubPr>
                            <m:ctrlPr>
                              <a:rPr lang="en-US" altLang="zh-CN" b="1" i="1" dirty="0" smtClean="0">
                                <a:solidFill>
                                  <a:srgbClr val="0070C0"/>
                                </a:solidFill>
                                <a:latin typeface="Cambria Math" panose="02040503050406030204" pitchFamily="18" charset="0"/>
                              </a:rPr>
                            </m:ctrlPr>
                          </m:sSubPr>
                          <m:e>
                            <m:r>
                              <a:rPr lang="en-US" altLang="zh-CN" b="1" i="1" dirty="0">
                                <a:solidFill>
                                  <a:srgbClr val="0070C0"/>
                                </a:solidFill>
                                <a:latin typeface="Cambria Math" panose="02040503050406030204" pitchFamily="18" charset="0"/>
                              </a:rPr>
                              <m:t>𝒁</m:t>
                            </m:r>
                          </m:e>
                          <m:sub>
                            <m:r>
                              <a:rPr lang="en-US" altLang="zh-CN" b="1" i="1" dirty="0">
                                <a:solidFill>
                                  <a:srgbClr val="0070C0"/>
                                </a:solidFill>
                                <a:latin typeface="Cambria Math" panose="02040503050406030204" pitchFamily="18" charset="0"/>
                              </a:rPr>
                              <m:t>𝒊𝒕</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a:latin typeface="Cambria Math" panose="02040503050406030204" pitchFamily="18" charset="0"/>
                              </a:rPr>
                              <m:t>2</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err="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𝛼</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b="1" i="1" dirty="0" smtClean="0">
                                <a:solidFill>
                                  <a:srgbClr val="00B050"/>
                                </a:solidFill>
                                <a:latin typeface="Cambria Math" panose="02040503050406030204" pitchFamily="18" charset="0"/>
                              </a:rPr>
                            </m:ctrlPr>
                          </m:sSubPr>
                          <m:e>
                            <m:r>
                              <a:rPr lang="en-US" altLang="zh-CN" b="1" i="1" dirty="0">
                                <a:solidFill>
                                  <a:srgbClr val="00B050"/>
                                </a:solidFill>
                                <a:latin typeface="Cambria Math" panose="02040503050406030204" pitchFamily="18" charset="0"/>
                              </a:rPr>
                              <m:t>𝜺</m:t>
                            </m:r>
                          </m:e>
                          <m:sub>
                            <m:r>
                              <a:rPr lang="en-US" altLang="zh-CN" b="1" i="1" dirty="0" smtClean="0">
                                <a:solidFill>
                                  <a:srgbClr val="00B050"/>
                                </a:solidFill>
                                <a:latin typeface="Cambria Math" panose="02040503050406030204" pitchFamily="18" charset="0"/>
                              </a:rPr>
                              <m:t>𝒊𝒕</m:t>
                            </m:r>
                          </m:sub>
                        </m:sSub>
                      </m:oMath>
                    </m:oMathPara>
                  </a14:m>
                </a:p>
              </p:txBody>
            </p:sp>
          </mc:Choice>
          <mc:Fallback>
            <p:sp>
              <p:nvSpPr>
                <p:cNvPr id="14" name="文本框 13">
                  <a:extLst>
                    <a:ext uri="{FF2B5EF4-FFF2-40B4-BE49-F238E27FC236}">
                      <a16:creationId xmlns:a16="http://schemas.microsoft.com/office/drawing/2014/main" id="{EBCDA0E8-8785-435D-24A5-D6D88378AFA0}"/>
                    </a:ext>
                  </a:extLst>
                </p:cNvPr>
                <p:cNvSpPr txBox="1">
                  <a:spLocks noRot="1" noChangeAspect="1" noMove="1" noResize="1" noEditPoints="1" noAdjustHandles="1" noChangeArrowheads="1" noChangeShapeType="1" noTextEdit="1"/>
                </p:cNvSpPr>
                <p:nvPr/>
              </p:nvSpPr>
              <p:spPr>
                <a:xfrm>
                  <a:off x="980642" y="4668857"/>
                  <a:ext cx="6096866" cy="369332"/>
                </a:xfrm>
                <a:prstGeom prst="rect">
                  <a:avLst/>
                </a:prstGeom>
                <a:blipFill>
                  <a:blip r:embed="rId5"/>
                  <a:stretch>
                    <a:fillRect t="-9836" b="-229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B6F4C1CB-6498-7CAC-6B34-2BD1C09F4553}"/>
                    </a:ext>
                  </a:extLst>
                </p:cNvPr>
                <p:cNvSpPr txBox="1"/>
                <p:nvPr/>
              </p:nvSpPr>
              <p:spPr>
                <a:xfrm>
                  <a:off x="980642" y="5845485"/>
                  <a:ext cx="6096866" cy="3765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𝑌</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1</m:t>
                            </m:r>
                          </m:sub>
                        </m:sSub>
                        <m:acc>
                          <m:accPr>
                            <m:chr m:val="̂"/>
                            <m:ctrlPr>
                              <a:rPr lang="en-US" altLang="zh-CN" b="1" i="1" dirty="0" smtClean="0">
                                <a:solidFill>
                                  <a:srgbClr val="FF0000"/>
                                </a:solidFill>
                                <a:latin typeface="Cambria Math" panose="02040503050406030204" pitchFamily="18" charset="0"/>
                              </a:rPr>
                            </m:ctrlPr>
                          </m:accPr>
                          <m:e>
                            <m:sSub>
                              <m:sSubPr>
                                <m:ctrlPr>
                                  <a:rPr lang="en-US" altLang="zh-CN" b="1" i="1" dirty="0" smtClean="0">
                                    <a:solidFill>
                                      <a:srgbClr val="FF0000"/>
                                    </a:solidFill>
                                    <a:latin typeface="Cambria Math" panose="02040503050406030204" pitchFamily="18" charset="0"/>
                                  </a:rPr>
                                </m:ctrlPr>
                              </m:sSubPr>
                              <m:e>
                                <m:r>
                                  <a:rPr lang="en-US" altLang="zh-CN" b="1" i="1" dirty="0">
                                    <a:solidFill>
                                      <a:srgbClr val="FF0000"/>
                                    </a:solidFill>
                                    <a:latin typeface="Cambria Math" panose="02040503050406030204" pitchFamily="18" charset="0"/>
                                  </a:rPr>
                                  <m:t>𝑰</m:t>
                                </m:r>
                              </m:e>
                              <m:sub>
                                <m:r>
                                  <a:rPr lang="en-US" altLang="zh-CN" b="1" i="1" dirty="0">
                                    <a:solidFill>
                                      <a:srgbClr val="FF0000"/>
                                    </a:solidFill>
                                    <a:latin typeface="Cambria Math" panose="02040503050406030204" pitchFamily="18" charset="0"/>
                                  </a:rPr>
                                  <m:t>𝒊𝒕</m:t>
                                </m:r>
                              </m:sub>
                            </m:sSub>
                          </m:e>
                        </m:acc>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2</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err="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err="1">
                                <a:latin typeface="Cambria Math" panose="02040503050406030204" pitchFamily="18" charset="0"/>
                              </a:rPr>
                              <m:t>𝑡</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𝜈</m:t>
                            </m:r>
                          </m:e>
                          <m:sub>
                            <m:r>
                              <a:rPr lang="en-US" altLang="zh-CN" i="1" dirty="0">
                                <a:latin typeface="Cambria Math" panose="02040503050406030204" pitchFamily="18" charset="0"/>
                              </a:rPr>
                              <m:t>𝑖𝑡</m:t>
                            </m:r>
                          </m:sub>
                        </m:sSub>
                      </m:oMath>
                    </m:oMathPara>
                  </a14:m>
                  <a:endParaRPr lang="en-US" altLang="zh-CN"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5" name="文本框 14">
                  <a:extLst>
                    <a:ext uri="{FF2B5EF4-FFF2-40B4-BE49-F238E27FC236}">
                      <a16:creationId xmlns:a16="http://schemas.microsoft.com/office/drawing/2014/main" id="{B6F4C1CB-6498-7CAC-6B34-2BD1C09F4553}"/>
                    </a:ext>
                  </a:extLst>
                </p:cNvPr>
                <p:cNvSpPr txBox="1">
                  <a:spLocks noRot="1" noChangeAspect="1" noMove="1" noResize="1" noEditPoints="1" noAdjustHandles="1" noChangeArrowheads="1" noChangeShapeType="1" noTextEdit="1"/>
                </p:cNvSpPr>
                <p:nvPr/>
              </p:nvSpPr>
              <p:spPr>
                <a:xfrm>
                  <a:off x="980642" y="5845485"/>
                  <a:ext cx="6096866" cy="376513"/>
                </a:xfrm>
                <a:prstGeom prst="rect">
                  <a:avLst/>
                </a:prstGeom>
                <a:blipFill>
                  <a:blip r:embed="rId6"/>
                  <a:stretch>
                    <a:fillRect t="-1613" b="-14516"/>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BE30AC0B-D524-B8F5-C065-5CEFFEB4554C}"/>
                </a:ext>
              </a:extLst>
            </p:cNvPr>
            <p:cNvSpPr txBox="1"/>
            <p:nvPr/>
          </p:nvSpPr>
          <p:spPr>
            <a:xfrm>
              <a:off x="980642" y="4080543"/>
              <a:ext cx="6096866" cy="369332"/>
            </a:xfrm>
            <a:prstGeom prst="rect">
              <a:avLst/>
            </a:prstGeom>
            <a:noFill/>
          </p:spPr>
          <p:txBody>
            <a:bodyPr wrap="square">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First Stage (Instrumental Variable Regression)</a:t>
              </a:r>
              <a:endParaRPr lang="zh-CN" altLang="en-US" dirty="0">
                <a:latin typeface="Calibri" panose="020F0502020204030204" pitchFamily="34" charset="0"/>
                <a:cs typeface="Calibri" panose="020F0502020204030204" pitchFamily="34" charset="0"/>
              </a:endParaRPr>
            </a:p>
          </p:txBody>
        </p:sp>
        <p:sp>
          <p:nvSpPr>
            <p:cNvPr id="17" name="文本框 16">
              <a:extLst>
                <a:ext uri="{FF2B5EF4-FFF2-40B4-BE49-F238E27FC236}">
                  <a16:creationId xmlns:a16="http://schemas.microsoft.com/office/drawing/2014/main" id="{0F590D5F-394E-3A07-69E0-8C145B1649AC}"/>
                </a:ext>
              </a:extLst>
            </p:cNvPr>
            <p:cNvSpPr txBox="1"/>
            <p:nvPr/>
          </p:nvSpPr>
          <p:spPr>
            <a:xfrm>
              <a:off x="980642" y="5257171"/>
              <a:ext cx="6096866" cy="369332"/>
            </a:xfrm>
            <a:prstGeom prst="rect">
              <a:avLst/>
            </a:prstGeom>
            <a:noFill/>
          </p:spPr>
          <p:txBody>
            <a:bodyPr wrap="square">
              <a:spAutoFit/>
            </a:bodyPr>
            <a:lstStyle/>
            <a:p>
              <a:r>
                <a:rPr lang="en-US" altLang="zh-CN" dirty="0">
                  <a:latin typeface="Calibri" panose="020F0502020204030204" pitchFamily="34" charset="0"/>
                  <a:ea typeface="Calibri" panose="020F0502020204030204" pitchFamily="34" charset="0"/>
                  <a:cs typeface="Calibri" panose="020F0502020204030204" pitchFamily="34" charset="0"/>
                </a:rPr>
                <a:t>Second Stage (Two-Stage Least Squares)</a:t>
              </a:r>
              <a:endParaRPr lang="zh-CN" altLang="en-US" dirty="0">
                <a:latin typeface="Calibri" panose="020F0502020204030204" pitchFamily="34" charset="0"/>
                <a:cs typeface="Calibri" panose="020F0502020204030204" pitchFamily="34" charset="0"/>
              </a:endParaRPr>
            </a:p>
          </p:txBody>
        </p:sp>
      </p:grpSp>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2A474B60-F218-AA42-3265-ED6AC44414BF}"/>
                  </a:ext>
                </a:extLst>
              </p:cNvPr>
              <p:cNvSpPr txBox="1"/>
              <p:nvPr/>
            </p:nvSpPr>
            <p:spPr>
              <a:xfrm>
                <a:off x="5825067" y="2683426"/>
                <a:ext cx="6096000" cy="3765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𝑰</m:t>
                          </m:r>
                        </m:e>
                        <m:sub>
                          <m:r>
                            <a:rPr lang="en-US" altLang="zh-CN" b="1" i="1" dirty="0" smtClean="0">
                              <a:solidFill>
                                <a:schemeClr val="tx1"/>
                              </a:solidFill>
                              <a:latin typeface="Cambria Math" panose="02040503050406030204" pitchFamily="18" charset="0"/>
                            </a:rPr>
                            <m:t>𝒊𝒕</m:t>
                          </m:r>
                        </m:sub>
                      </m:sSub>
                      <m:r>
                        <a:rPr lang="en-US" altLang="zh-CN" b="1" i="1" dirty="0">
                          <a:solidFill>
                            <a:schemeClr val="tx1"/>
                          </a:solidFill>
                          <a:latin typeface="Cambria Math" panose="02040503050406030204" pitchFamily="18" charset="0"/>
                        </a:rPr>
                        <m:t>=</m:t>
                      </m:r>
                      <m:acc>
                        <m:accPr>
                          <m:chr m:val="̂"/>
                          <m:ctrlPr>
                            <a:rPr lang="en-US" altLang="zh-CN" b="1" i="1" dirty="0" smtClean="0">
                              <a:solidFill>
                                <a:srgbClr val="FF0000"/>
                              </a:solidFill>
                              <a:latin typeface="Cambria Math" panose="02040503050406030204" pitchFamily="18" charset="0"/>
                            </a:rPr>
                          </m:ctrlPr>
                        </m:accPr>
                        <m:e>
                          <m:sSub>
                            <m:sSubPr>
                              <m:ctrlPr>
                                <a:rPr lang="en-US" altLang="zh-CN" b="1" i="1" dirty="0" smtClean="0">
                                  <a:solidFill>
                                    <a:srgbClr val="FF0000"/>
                                  </a:solidFill>
                                  <a:latin typeface="Cambria Math" panose="02040503050406030204" pitchFamily="18" charset="0"/>
                                </a:rPr>
                              </m:ctrlPr>
                            </m:sSubPr>
                            <m:e>
                              <m:r>
                                <a:rPr lang="en-US" altLang="zh-CN" b="1" i="1" dirty="0">
                                  <a:solidFill>
                                    <a:srgbClr val="FF0000"/>
                                  </a:solidFill>
                                  <a:latin typeface="Cambria Math" panose="02040503050406030204" pitchFamily="18" charset="0"/>
                                </a:rPr>
                                <m:t>𝑰</m:t>
                              </m:r>
                            </m:e>
                            <m:sub>
                              <m:r>
                                <a:rPr lang="en-US" altLang="zh-CN" b="1" i="1" dirty="0">
                                  <a:solidFill>
                                    <a:srgbClr val="FF0000"/>
                                  </a:solidFill>
                                  <a:latin typeface="Cambria Math" panose="02040503050406030204" pitchFamily="18" charset="0"/>
                                </a:rPr>
                                <m:t>𝒊𝒕</m:t>
                              </m:r>
                            </m:sub>
                          </m:sSub>
                        </m:e>
                      </m:acc>
                      <m:r>
                        <a:rPr lang="en-US" altLang="zh-CN" b="1" i="1" dirty="0">
                          <a:solidFill>
                            <a:schemeClr val="tx1"/>
                          </a:solidFill>
                          <a:latin typeface="Cambria Math" panose="02040503050406030204" pitchFamily="18" charset="0"/>
                        </a:rPr>
                        <m:t>+</m:t>
                      </m:r>
                      <m:acc>
                        <m:accPr>
                          <m:chr m:val="̂"/>
                          <m:ctrlPr>
                            <a:rPr lang="en-US" altLang="zh-CN" b="1" i="1" dirty="0" smtClean="0">
                              <a:solidFill>
                                <a:srgbClr val="00B050"/>
                              </a:solidFill>
                              <a:latin typeface="Cambria Math" panose="02040503050406030204" pitchFamily="18" charset="0"/>
                            </a:rPr>
                          </m:ctrlPr>
                        </m:accPr>
                        <m:e>
                          <m:sSub>
                            <m:sSubPr>
                              <m:ctrlPr>
                                <a:rPr lang="en-US" altLang="zh-CN" b="1" i="1" dirty="0">
                                  <a:solidFill>
                                    <a:srgbClr val="00B050"/>
                                  </a:solidFill>
                                  <a:latin typeface="Cambria Math" panose="02040503050406030204" pitchFamily="18" charset="0"/>
                                </a:rPr>
                              </m:ctrlPr>
                            </m:sSubPr>
                            <m:e>
                              <m:r>
                                <a:rPr lang="en-US" altLang="zh-CN" b="1" i="1" dirty="0">
                                  <a:solidFill>
                                    <a:srgbClr val="00B050"/>
                                  </a:solidFill>
                                  <a:latin typeface="Cambria Math" panose="02040503050406030204" pitchFamily="18" charset="0"/>
                                </a:rPr>
                                <m:t>𝜺</m:t>
                              </m:r>
                            </m:e>
                            <m:sub>
                              <m:r>
                                <a:rPr lang="en-US" altLang="zh-CN" b="1" i="1" dirty="0">
                                  <a:solidFill>
                                    <a:srgbClr val="00B050"/>
                                  </a:solidFill>
                                  <a:latin typeface="Cambria Math" panose="02040503050406030204" pitchFamily="18" charset="0"/>
                                </a:rPr>
                                <m:t>𝒊𝒕</m:t>
                              </m:r>
                            </m:sub>
                          </m:sSub>
                        </m:e>
                      </m:acc>
                    </m:oMath>
                  </m:oMathPara>
                </a14:m>
                <a:endParaRPr lang="zh-CN" altLang="en-US" dirty="0"/>
              </a:p>
            </p:txBody>
          </p:sp>
        </mc:Choice>
        <mc:Fallback>
          <p:sp>
            <p:nvSpPr>
              <p:cNvPr id="19" name="文本框 18">
                <a:extLst>
                  <a:ext uri="{FF2B5EF4-FFF2-40B4-BE49-F238E27FC236}">
                    <a16:creationId xmlns:a16="http://schemas.microsoft.com/office/drawing/2014/main" id="{2A474B60-F218-AA42-3265-ED6AC44414BF}"/>
                  </a:ext>
                </a:extLst>
              </p:cNvPr>
              <p:cNvSpPr txBox="1">
                <a:spLocks noRot="1" noChangeAspect="1" noMove="1" noResize="1" noEditPoints="1" noAdjustHandles="1" noChangeArrowheads="1" noChangeShapeType="1" noTextEdit="1"/>
              </p:cNvSpPr>
              <p:nvPr/>
            </p:nvSpPr>
            <p:spPr>
              <a:xfrm>
                <a:off x="5825067" y="2683426"/>
                <a:ext cx="6096000" cy="376513"/>
              </a:xfrm>
              <a:prstGeom prst="rect">
                <a:avLst/>
              </a:prstGeom>
              <a:blipFill>
                <a:blip r:embed="rId7"/>
                <a:stretch>
                  <a:fillRect t="-32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CBD52399-7F18-D6A3-4821-D89E94C377B1}"/>
                  </a:ext>
                </a:extLst>
              </p:cNvPr>
              <p:cNvSpPr txBox="1"/>
              <p:nvPr/>
            </p:nvSpPr>
            <p:spPr>
              <a:xfrm>
                <a:off x="980642" y="3525393"/>
                <a:ext cx="4831644" cy="2585323"/>
              </a:xfrm>
              <a:prstGeom prst="rect">
                <a:avLst/>
              </a:prstGeom>
              <a:noFill/>
            </p:spPr>
            <p:txBody>
              <a:bodyPr wrap="square">
                <a:spAutoFit/>
              </a:bodyPr>
              <a:lstStyle/>
              <a:p>
                <a:pP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oMath>
                </a14:m>
                <a:r>
                  <a:rPr lang="en-US" altLang="zh-CN" dirty="0"/>
                  <a:t>: explanatory variables (including incorporation rate</a:t>
                </a:r>
                <a:r>
                  <a:rPr lang="zh-CN" altLang="en-US" dirty="0"/>
                  <a:t> </a:t>
                </a:r>
                <a:r>
                  <a:rPr lang="en-US" altLang="zh-CN" dirty="0"/>
                  <a:t>and the other explanatory variables, in which incorporation rate / </a:t>
                </a:r>
                <a:r>
                  <a:rPr lang="zh-CN" altLang="en-US" dirty="0"/>
                  <a:t>法人化率 </a:t>
                </a:r>
                <a:r>
                  <a:rPr lang="en-US" altLang="zh-CN" dirty="0"/>
                  <a:t>is endogenous /</a:t>
                </a:r>
                <a:r>
                  <a:rPr lang="zh-CN" altLang="en-US" dirty="0"/>
                  <a:t>内生変数</a:t>
                </a:r>
                <a:r>
                  <a:rPr lang="en-US" altLang="zh-CN" dirty="0"/>
                  <a:t>)</a:t>
                </a:r>
              </a:p>
              <a:p>
                <a:pPr/>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b="0" i="1" dirty="0">
                            <a:solidFill>
                              <a:schemeClr val="tx1"/>
                            </a:solidFill>
                            <a:latin typeface="Cambria Math" panose="02040503050406030204" pitchFamily="18" charset="0"/>
                          </a:rPr>
                          <m:t>𝑍</m:t>
                        </m:r>
                      </m:e>
                      <m:sub>
                        <m:r>
                          <a:rPr lang="en-US" altLang="zh-CN" b="0" i="1" dirty="0">
                            <a:solidFill>
                              <a:schemeClr val="tx1"/>
                            </a:solidFill>
                            <a:latin typeface="Cambria Math" panose="02040503050406030204" pitchFamily="18" charset="0"/>
                          </a:rPr>
                          <m:t>𝑖𝑡</m:t>
                        </m:r>
                      </m:sub>
                    </m:sSub>
                  </m:oMath>
                </a14:m>
                <a:r>
                  <a:rPr lang="en-US" altLang="zh-CN" dirty="0"/>
                  <a:t>:instrumental variable (the incorporation rate of the prefecture excluding the municipality </a:t>
                </a:r>
                <a:r>
                  <a:rPr lang="en-US" altLang="zh-CN" dirty="0" err="1"/>
                  <a:t>i</a:t>
                </a:r>
                <a:r>
                  <a:rPr lang="en-US" altLang="zh-CN" dirty="0"/>
                  <a:t> /</a:t>
                </a:r>
                <a:r>
                  <a:rPr lang="ja-JP" altLang="en-US" dirty="0"/>
                  <a:t>当該市町村を除いた府県の法人化率</a:t>
                </a:r>
                <a:r>
                  <a:rPr lang="en-US" altLang="zh-CN" dirty="0"/>
                  <a:t>)</a:t>
                </a:r>
              </a:p>
              <a:p>
                <a:pP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𝑌</m:t>
                        </m:r>
                      </m:e>
                      <m:sub>
                        <m:r>
                          <a:rPr lang="en-US" altLang="zh-CN" i="1" dirty="0">
                            <a:latin typeface="Cambria Math" panose="02040503050406030204" pitchFamily="18" charset="0"/>
                          </a:rPr>
                          <m:t>𝑖𝑡</m:t>
                        </m:r>
                      </m:sub>
                    </m:sSub>
                  </m:oMath>
                </a14:m>
                <a:r>
                  <a:rPr lang="en-US" altLang="zh-CN" dirty="0"/>
                  <a:t>: dependent variable (Rental area rate / </a:t>
                </a:r>
              </a:p>
              <a:p>
                <a:pPr/>
                <a:r>
                  <a:rPr lang="zh-CN" altLang="en-US" dirty="0"/>
                  <a:t>借入面積率</a:t>
                </a:r>
                <a:r>
                  <a:rPr lang="en-US" altLang="zh-CN" dirty="0"/>
                  <a:t>)</a:t>
                </a:r>
                <a:endParaRPr lang="zh-CN" altLang="en-US" dirty="0"/>
              </a:p>
            </p:txBody>
          </p:sp>
        </mc:Choice>
        <mc:Fallback>
          <p:sp>
            <p:nvSpPr>
              <p:cNvPr id="23" name="文本框 22">
                <a:extLst>
                  <a:ext uri="{FF2B5EF4-FFF2-40B4-BE49-F238E27FC236}">
                    <a16:creationId xmlns:a16="http://schemas.microsoft.com/office/drawing/2014/main" id="{CBD52399-7F18-D6A3-4821-D89E94C377B1}"/>
                  </a:ext>
                </a:extLst>
              </p:cNvPr>
              <p:cNvSpPr txBox="1">
                <a:spLocks noRot="1" noChangeAspect="1" noMove="1" noResize="1" noEditPoints="1" noAdjustHandles="1" noChangeArrowheads="1" noChangeShapeType="1" noTextEdit="1"/>
              </p:cNvSpPr>
              <p:nvPr/>
            </p:nvSpPr>
            <p:spPr>
              <a:xfrm>
                <a:off x="980642" y="3525393"/>
                <a:ext cx="4831644" cy="2585323"/>
              </a:xfrm>
              <a:prstGeom prst="rect">
                <a:avLst/>
              </a:prstGeom>
              <a:blipFill>
                <a:blip r:embed="rId8"/>
                <a:stretch>
                  <a:fillRect l="-1136" t="-1179" r="-2273" b="-2830"/>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EEC69BE5-0B20-A0BF-C987-365182B6D2B7}"/>
              </a:ext>
            </a:extLst>
          </p:cNvPr>
          <p:cNvSpPr txBox="1"/>
          <p:nvPr/>
        </p:nvSpPr>
        <p:spPr>
          <a:xfrm>
            <a:off x="6379716" y="3641736"/>
            <a:ext cx="5587999" cy="2585323"/>
          </a:xfrm>
          <a:prstGeom prst="rect">
            <a:avLst/>
          </a:prstGeom>
          <a:noFill/>
        </p:spPr>
        <p:txBody>
          <a:bodyPr wrap="square">
            <a:spAutoFit/>
          </a:bodyPr>
          <a:lstStyle/>
          <a:p>
            <a:r>
              <a:rPr lang="en-US" altLang="zh-CN" dirty="0"/>
              <a:t>An instrumental variable must satisfy two key conditions:</a:t>
            </a:r>
          </a:p>
          <a:p>
            <a:pPr marL="342900" indent="-342900">
              <a:buAutoNum type="arabicParenBoth"/>
            </a:pPr>
            <a:r>
              <a:rPr lang="en-US" altLang="zh-CN" dirty="0"/>
              <a:t>Relevance, meaning that the instrument is sufficiently correlated with the endogenous variable, which is supported by the first-stage regression results; and</a:t>
            </a:r>
          </a:p>
          <a:p>
            <a:pPr marL="342900" indent="-342900">
              <a:buAutoNum type="arabicParenBoth"/>
            </a:pPr>
            <a:r>
              <a:rPr lang="en-US" altLang="zh-CN" dirty="0"/>
              <a:t>Exogeneity, meaning that the instrument is uncorrelated with the error term in the structural equation.</a:t>
            </a:r>
            <a:endParaRPr lang="zh-CN" altLang="en-US" dirty="0"/>
          </a:p>
        </p:txBody>
      </p:sp>
    </p:spTree>
    <p:extLst>
      <p:ext uri="{BB962C8B-B14F-4D97-AF65-F5344CB8AC3E}">
        <p14:creationId xmlns:p14="http://schemas.microsoft.com/office/powerpoint/2010/main" val="38421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62746-5902-9C4F-4AE0-82075E990146}"/>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87C7C09-A8E9-44F2-1B74-0836D905F4FB}"/>
              </a:ext>
            </a:extLst>
          </p:cNvPr>
          <p:cNvGraphicFramePr>
            <a:graphicFrameLocks noGrp="1"/>
          </p:cNvGraphicFramePr>
          <p:nvPr>
            <p:extLst>
              <p:ext uri="{D42A27DB-BD31-4B8C-83A1-F6EECF244321}">
                <p14:modId xmlns:p14="http://schemas.microsoft.com/office/powerpoint/2010/main" val="3123832252"/>
              </p:ext>
            </p:extLst>
          </p:nvPr>
        </p:nvGraphicFramePr>
        <p:xfrm>
          <a:off x="505178" y="1034506"/>
          <a:ext cx="11181644" cy="5317475"/>
        </p:xfrm>
        <a:graphic>
          <a:graphicData uri="http://schemas.openxmlformats.org/drawingml/2006/table">
            <a:tbl>
              <a:tblPr/>
              <a:tblGrid>
                <a:gridCol w="5227370">
                  <a:extLst>
                    <a:ext uri="{9D8B030D-6E8A-4147-A177-3AD203B41FA5}">
                      <a16:colId xmlns:a16="http://schemas.microsoft.com/office/drawing/2014/main" val="2434762565"/>
                    </a:ext>
                  </a:extLst>
                </a:gridCol>
                <a:gridCol w="992379">
                  <a:extLst>
                    <a:ext uri="{9D8B030D-6E8A-4147-A177-3AD203B41FA5}">
                      <a16:colId xmlns:a16="http://schemas.microsoft.com/office/drawing/2014/main" val="2135930932"/>
                    </a:ext>
                  </a:extLst>
                </a:gridCol>
                <a:gridCol w="992379">
                  <a:extLst>
                    <a:ext uri="{9D8B030D-6E8A-4147-A177-3AD203B41FA5}">
                      <a16:colId xmlns:a16="http://schemas.microsoft.com/office/drawing/2014/main" val="2221838808"/>
                    </a:ext>
                  </a:extLst>
                </a:gridCol>
                <a:gridCol w="992379">
                  <a:extLst>
                    <a:ext uri="{9D8B030D-6E8A-4147-A177-3AD203B41FA5}">
                      <a16:colId xmlns:a16="http://schemas.microsoft.com/office/drawing/2014/main" val="3602626161"/>
                    </a:ext>
                  </a:extLst>
                </a:gridCol>
                <a:gridCol w="992379">
                  <a:extLst>
                    <a:ext uri="{9D8B030D-6E8A-4147-A177-3AD203B41FA5}">
                      <a16:colId xmlns:a16="http://schemas.microsoft.com/office/drawing/2014/main" val="1524482340"/>
                    </a:ext>
                  </a:extLst>
                </a:gridCol>
                <a:gridCol w="992379">
                  <a:extLst>
                    <a:ext uri="{9D8B030D-6E8A-4147-A177-3AD203B41FA5}">
                      <a16:colId xmlns:a16="http://schemas.microsoft.com/office/drawing/2014/main" val="155774168"/>
                    </a:ext>
                  </a:extLst>
                </a:gridCol>
                <a:gridCol w="992379">
                  <a:extLst>
                    <a:ext uri="{9D8B030D-6E8A-4147-A177-3AD203B41FA5}">
                      <a16:colId xmlns:a16="http://schemas.microsoft.com/office/drawing/2014/main" val="2853645689"/>
                    </a:ext>
                  </a:extLst>
                </a:gridCol>
              </a:tblGrid>
              <a:tr h="498089">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Variable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変数</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gridSpan="2">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Ⅰ</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1</a:t>
                      </a:r>
                      <a:r>
                        <a:rPr lang="en-US" sz="1600" dirty="0">
                          <a:latin typeface="Calibri" panose="020F0502020204030204" pitchFamily="34" charset="0"/>
                          <a:ea typeface="Calibri" panose="020F0502020204030204" pitchFamily="34" charset="0"/>
                          <a:cs typeface="Calibri" panose="020F0502020204030204" pitchFamily="34" charset="0"/>
                        </a:rPr>
                        <a:t>st Stage: Incorporation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第</a:t>
                      </a:r>
                      <a:r>
                        <a:rPr lang="en-US" altLang="zh-CN" sz="1600" dirty="0">
                          <a:latin typeface="Calibri" panose="020F0502020204030204" pitchFamily="34" charset="0"/>
                          <a:ea typeface="Calibri" panose="020F0502020204030204" pitchFamily="34" charset="0"/>
                          <a:cs typeface="Calibri" panose="020F0502020204030204" pitchFamily="34" charset="0"/>
                        </a:rPr>
                        <a:t>1</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段階 法人化率</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tc gridSpan="2">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Ⅱ</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2</a:t>
                      </a:r>
                      <a:r>
                        <a:rPr lang="en-US" sz="1600" dirty="0">
                          <a:latin typeface="Calibri" panose="020F0502020204030204" pitchFamily="34" charset="0"/>
                          <a:ea typeface="Calibri" panose="020F0502020204030204" pitchFamily="34" charset="0"/>
                          <a:cs typeface="Calibri" panose="020F0502020204030204" pitchFamily="34" charset="0"/>
                        </a:rPr>
                        <a:t>nd Stage: Rental Area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第</a:t>
                      </a:r>
                      <a:r>
                        <a:rPr lang="en-US" altLang="zh-CN" sz="1600" dirty="0">
                          <a:latin typeface="Calibri" panose="020F0502020204030204" pitchFamily="34" charset="0"/>
                          <a:ea typeface="Calibri" panose="020F0502020204030204" pitchFamily="34" charset="0"/>
                          <a:cs typeface="Calibri" panose="020F0502020204030204" pitchFamily="34" charset="0"/>
                        </a:rPr>
                        <a:t>2</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段階 借入面積率</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tc gridSpan="2">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a:t>
                      </a:r>
                      <a:r>
                        <a:rPr lang="en-US" sz="1600" dirty="0" err="1">
                          <a:latin typeface="Calibri" panose="020F0502020204030204" pitchFamily="34" charset="0"/>
                          <a:ea typeface="Calibri" panose="020F0502020204030204" pitchFamily="34" charset="0"/>
                          <a:cs typeface="Calibri" panose="020F0502020204030204" pitchFamily="34" charset="0"/>
                        </a:rPr>
                        <a:t>Ⅲ）OLS</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extLst>
                  <a:ext uri="{0D108BD9-81ED-4DB2-BD59-A6C34878D82A}">
                    <a16:rowId xmlns:a16="http://schemas.microsoft.com/office/drawing/2014/main" val="2025682904"/>
                  </a:ext>
                </a:extLst>
              </a:tr>
              <a:tr h="135979">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Coef.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係数</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altLang="zh-TW" sz="1600" dirty="0">
                          <a:latin typeface="Calibri" panose="020F0502020204030204" pitchFamily="34" charset="0"/>
                          <a:ea typeface="Calibri" panose="020F0502020204030204" pitchFamily="34" charset="0"/>
                          <a:cs typeface="Calibri" panose="020F0502020204030204" pitchFamily="34" charset="0"/>
                        </a:rPr>
                        <a:t>SE / </a:t>
                      </a:r>
                      <a:r>
                        <a:rPr lang="zh-TW" altLang="en-US" sz="1600" dirty="0">
                          <a:latin typeface="Calibri" panose="020F0502020204030204" pitchFamily="34" charset="0"/>
                          <a:ea typeface="UD Digi Kyokasho N" panose="02020400000000000000" pitchFamily="17" charset="-128"/>
                          <a:cs typeface="Calibri" panose="020F0502020204030204" pitchFamily="34" charset="0"/>
                        </a:rPr>
                        <a:t>標準誤差</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Coef.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係数</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altLang="zh-TW" sz="1600" dirty="0">
                          <a:latin typeface="Calibri" panose="020F0502020204030204" pitchFamily="34" charset="0"/>
                          <a:ea typeface="Calibri" panose="020F0502020204030204" pitchFamily="34" charset="0"/>
                          <a:cs typeface="Calibri" panose="020F0502020204030204" pitchFamily="34" charset="0"/>
                        </a:rPr>
                        <a:t>SE / </a:t>
                      </a:r>
                      <a:r>
                        <a:rPr lang="zh-TW" altLang="en-US" sz="1600" dirty="0">
                          <a:latin typeface="Calibri" panose="020F0502020204030204" pitchFamily="34" charset="0"/>
                          <a:ea typeface="UD Digi Kyokasho N" panose="02020400000000000000" pitchFamily="17" charset="-128"/>
                          <a:cs typeface="Calibri" panose="020F0502020204030204" pitchFamily="34" charset="0"/>
                        </a:rPr>
                        <a:t>標準誤差</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Coef.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係数</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altLang="zh-TW" sz="1600" dirty="0">
                          <a:latin typeface="Calibri" panose="020F0502020204030204" pitchFamily="34" charset="0"/>
                          <a:ea typeface="Calibri" panose="020F0502020204030204" pitchFamily="34" charset="0"/>
                          <a:cs typeface="Calibri" panose="020F0502020204030204" pitchFamily="34" charset="0"/>
                        </a:rPr>
                        <a:t>SE / </a:t>
                      </a:r>
                      <a:r>
                        <a:rPr lang="zh-TW" altLang="en-US" sz="1600" dirty="0">
                          <a:latin typeface="Calibri" panose="020F0502020204030204" pitchFamily="34" charset="0"/>
                          <a:ea typeface="UD Digi Kyokasho N" panose="02020400000000000000" pitchFamily="17" charset="-128"/>
                          <a:cs typeface="Calibri" panose="020F0502020204030204" pitchFamily="34" charset="0"/>
                        </a:rPr>
                        <a:t>標準誤差</a:t>
                      </a:r>
                    </a:p>
                  </a:txBody>
                  <a:tcPr marL="19426" marR="19426" marT="9713" marB="9713"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0494174"/>
                  </a:ext>
                </a:extLst>
              </a:tr>
              <a:tr h="252533">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Incorporation rate / </a:t>
                      </a:r>
                      <a:r>
                        <a:rPr lang="en-US" sz="1600" kern="1200" dirty="0" err="1">
                          <a:solidFill>
                            <a:schemeClr val="tx1"/>
                          </a:solidFill>
                          <a:latin typeface="Calibri" panose="020F0502020204030204" pitchFamily="34" charset="0"/>
                          <a:ea typeface="UD Digi Kyokasho N" panose="02020400000000000000" pitchFamily="17" charset="-128"/>
                          <a:cs typeface="Calibri" panose="020F0502020204030204" pitchFamily="34" charset="0"/>
                        </a:rPr>
                        <a:t>法人化率</a:t>
                      </a:r>
                      <a:endParaRPr lang="en-US" sz="1600" kern="1200" dirty="0">
                        <a:solidFill>
                          <a:schemeClr val="tx1"/>
                        </a:solidFill>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r>
                        <a:rPr lang="en-US" altLang="zh-CN" sz="1600">
                          <a:latin typeface="Calibri" panose="020F0502020204030204" pitchFamily="34" charset="0"/>
                          <a:ea typeface="Calibri" panose="020F0502020204030204" pitchFamily="34" charset="0"/>
                          <a:cs typeface="Calibri" panose="020F0502020204030204" pitchFamily="34" charset="0"/>
                        </a:rPr>
                        <a:t>2.542***</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0.441</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r>
                        <a:rPr lang="en-US" altLang="zh-CN" sz="1600">
                          <a:latin typeface="Calibri" panose="020F0502020204030204" pitchFamily="34" charset="0"/>
                          <a:ea typeface="Calibri" panose="020F0502020204030204" pitchFamily="34" charset="0"/>
                          <a:cs typeface="Calibri" panose="020F0502020204030204" pitchFamily="34" charset="0"/>
                        </a:rPr>
                        <a:t>0.592***</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0.100</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128480894"/>
                  </a:ext>
                </a:extLst>
              </a:tr>
              <a:tr h="369087">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Prefecture-level incorporation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府県</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法人化率</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0.878***</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0.115</a:t>
                      </a:r>
                    </a:p>
                  </a:txBody>
                  <a:tcPr marL="19426" marR="19426" marT="9713" marB="9713" anchor="ctr">
                    <a:lnL>
                      <a:noFill/>
                    </a:lnL>
                    <a:lnR>
                      <a:noFill/>
                    </a:lnR>
                    <a:lnT>
                      <a:noFill/>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solidFill>
                      <a:schemeClr val="bg2"/>
                    </a:solidFill>
                  </a:tcPr>
                </a:tc>
                <a:extLst>
                  <a:ext uri="{0D108BD9-81ED-4DB2-BD59-A6C34878D82A}">
                    <a16:rowId xmlns:a16="http://schemas.microsoft.com/office/drawing/2014/main" val="659078353"/>
                  </a:ext>
                </a:extLst>
              </a:tr>
              <a:tr h="310810">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Meeting holding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寄</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り</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合</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いの</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開催率</a:t>
                      </a:r>
                    </a:p>
                  </a:txBody>
                  <a:tcPr marL="19426" marR="19426" marT="9713" marB="9713" anchor="ctr">
                    <a:lnL>
                      <a:noFill/>
                    </a:lnL>
                    <a:lnR>
                      <a:noFill/>
                    </a:lnR>
                    <a:lnT>
                      <a:noFill/>
                    </a:lnT>
                    <a:lnB>
                      <a:noFill/>
                    </a:lnB>
                    <a:noFill/>
                  </a:tcPr>
                </a:tc>
                <a:tc>
                  <a:txBody>
                    <a:bodyPr/>
                    <a:lstStyle/>
                    <a:p>
                      <a:pPr>
                        <a:buNone/>
                      </a:pPr>
                      <a:r>
                        <a:rPr lang="zh-CN" altLang="en-US" sz="1600">
                          <a:latin typeface="Calibri" panose="020F0502020204030204" pitchFamily="34" charset="0"/>
                          <a:ea typeface="UD Digi Kyokasho N" panose="02020400000000000000" pitchFamily="17" charset="-128"/>
                          <a:cs typeface="Calibri" panose="020F0502020204030204" pitchFamily="34" charset="0"/>
                        </a:rPr>
                        <a:t>−</a:t>
                      </a:r>
                      <a:r>
                        <a:rPr lang="en-US" altLang="zh-CN" sz="1600">
                          <a:latin typeface="Calibri" panose="020F0502020204030204" pitchFamily="34" charset="0"/>
                          <a:ea typeface="Calibri" panose="020F0502020204030204" pitchFamily="34" charset="0"/>
                          <a:cs typeface="Calibri" panose="020F0502020204030204" pitchFamily="34" charset="0"/>
                        </a:rPr>
                        <a:t>0.005</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0.005</a:t>
                      </a:r>
                    </a:p>
                  </a:txBody>
                  <a:tcPr marL="19426" marR="19426" marT="9713" marB="9713" anchor="ctr">
                    <a:lnL>
                      <a:noFill/>
                    </a:lnL>
                    <a:lnR>
                      <a:noFill/>
                    </a:lnR>
                    <a:lnT>
                      <a:noFill/>
                    </a:lnT>
                    <a:lnB>
                      <a:noFill/>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0.006</a:t>
                      </a:r>
                    </a:p>
                  </a:txBody>
                  <a:tcPr marL="19426" marR="19426" marT="9713" marB="9713" anchor="ctr">
                    <a:lnL>
                      <a:noFill/>
                    </a:lnL>
                    <a:lnR>
                      <a:noFill/>
                    </a:lnR>
                    <a:lnT>
                      <a:noFill/>
                    </a:lnT>
                    <a:lnB>
                      <a:noFill/>
                    </a:lnB>
                    <a:noFill/>
                  </a:tcPr>
                </a:tc>
                <a:tc>
                  <a:txBody>
                    <a:bodyPr/>
                    <a:lstStyle/>
                    <a:p>
                      <a:pPr>
                        <a:buNone/>
                      </a:pPr>
                      <a:r>
                        <a:rPr lang="en-US" altLang="zh-CN" sz="1600">
                          <a:latin typeface="Calibri" panose="020F0502020204030204" pitchFamily="34" charset="0"/>
                          <a:ea typeface="Calibri" panose="020F0502020204030204" pitchFamily="34" charset="0"/>
                          <a:cs typeface="Calibri" panose="020F0502020204030204" pitchFamily="34" charset="0"/>
                        </a:rPr>
                        <a:t>0.026</a:t>
                      </a:r>
                    </a:p>
                  </a:txBody>
                  <a:tcPr marL="19426" marR="19426" marT="9713" marB="9713" anchor="ctr">
                    <a:lnL>
                      <a:noFill/>
                    </a:lnL>
                    <a:lnR>
                      <a:noFill/>
                    </a:lnR>
                    <a:lnT>
                      <a:noFill/>
                    </a:lnT>
                    <a:lnB>
                      <a:noFill/>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0.020</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0.017</a:t>
                      </a:r>
                    </a:p>
                  </a:txBody>
                  <a:tcPr marL="19426" marR="19426" marT="9713" marB="9713" anchor="ctr">
                    <a:lnL>
                      <a:noFill/>
                    </a:lnL>
                    <a:lnR>
                      <a:noFill/>
                    </a:lnR>
                    <a:lnT>
                      <a:noFill/>
                    </a:lnT>
                    <a:lnB>
                      <a:noFill/>
                    </a:lnB>
                    <a:noFill/>
                  </a:tcPr>
                </a:tc>
                <a:extLst>
                  <a:ext uri="{0D108BD9-81ED-4DB2-BD59-A6C34878D82A}">
                    <a16:rowId xmlns:a16="http://schemas.microsoft.com/office/drawing/2014/main" val="156463434"/>
                  </a:ext>
                </a:extLst>
              </a:tr>
              <a:tr h="310810">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Farmland conservation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農地保全率</a:t>
                      </a:r>
                    </a:p>
                  </a:txBody>
                  <a:tcPr marL="19426" marR="19426" marT="9713" marB="9713" anchor="ctr">
                    <a:lnL>
                      <a:noFill/>
                    </a:lnL>
                    <a:lnR>
                      <a:noFill/>
                    </a:lnR>
                    <a:lnT>
                      <a:noFill/>
                    </a:lnT>
                    <a:lnB>
                      <a:noFill/>
                    </a:lnB>
                    <a:solidFill>
                      <a:schemeClr val="bg2"/>
                    </a:solid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0.002</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0.003</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0.010</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0.007</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0.010</a:t>
                      </a:r>
                    </a:p>
                  </a:txBody>
                  <a:tcPr marL="19426" marR="19426" marT="9713" marB="9713" anchor="ctr">
                    <a:lnL>
                      <a:noFill/>
                    </a:lnL>
                    <a:lnR>
                      <a:noFill/>
                    </a:lnR>
                    <a:lnT>
                      <a:noFill/>
                    </a:lnT>
                    <a:lnB>
                      <a:noFill/>
                    </a:lnB>
                    <a:solidFill>
                      <a:schemeClr val="bg2"/>
                    </a:solidFill>
                  </a:tcPr>
                </a:tc>
                <a:extLst>
                  <a:ext uri="{0D108BD9-81ED-4DB2-BD59-A6C34878D82A}">
                    <a16:rowId xmlns:a16="http://schemas.microsoft.com/office/drawing/2014/main" val="2187316229"/>
                  </a:ext>
                </a:extLst>
              </a:tr>
              <a:tr h="369087">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Total managed farmland area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経営耕地総面積</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0.005</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0.005</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0.132***</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0.023</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0.144***</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0.008</a:t>
                      </a:r>
                    </a:p>
                  </a:txBody>
                  <a:tcPr marL="19426" marR="19426" marT="9713" marB="9713" anchor="ctr">
                    <a:lnL>
                      <a:noFill/>
                    </a:lnL>
                    <a:lnR>
                      <a:noFill/>
                    </a:lnR>
                    <a:lnT>
                      <a:noFill/>
                    </a:lnT>
                    <a:lnB>
                      <a:noFill/>
                    </a:lnB>
                    <a:noFill/>
                  </a:tcPr>
                </a:tc>
                <a:extLst>
                  <a:ext uri="{0D108BD9-81ED-4DB2-BD59-A6C34878D82A}">
                    <a16:rowId xmlns:a16="http://schemas.microsoft.com/office/drawing/2014/main" val="1171166690"/>
                  </a:ext>
                </a:extLst>
              </a:tr>
              <a:tr h="485640">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Communities within 30 min of DID / DID</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まで</a:t>
                      </a:r>
                      <a:r>
                        <a:rPr lang="en-US" altLang="ja-JP" sz="1600" dirty="0">
                          <a:latin typeface="Calibri" panose="020F0502020204030204" pitchFamily="34" charset="0"/>
                          <a:ea typeface="Calibri" panose="020F0502020204030204" pitchFamily="34" charset="0"/>
                          <a:cs typeface="Calibri" panose="020F0502020204030204" pitchFamily="34" charset="0"/>
                        </a:rPr>
                        <a:t>30</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分以内</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集落</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割合</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0.004*</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0.002</a:t>
                      </a:r>
                    </a:p>
                  </a:txBody>
                  <a:tcPr marL="19426" marR="19426" marT="9713" marB="9713" anchor="ctr">
                    <a:lnL>
                      <a:noFill/>
                    </a:lnL>
                    <a:lnR>
                      <a:noFill/>
                    </a:lnR>
                    <a:lnT>
                      <a:noFill/>
                    </a:lnT>
                    <a:lnB>
                      <a:noFill/>
                    </a:lnB>
                    <a:solidFill>
                      <a:schemeClr val="bg2"/>
                    </a:solid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0.009</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0.014</a:t>
                      </a:r>
                    </a:p>
                  </a:txBody>
                  <a:tcPr marL="19426" marR="19426" marT="9713" marB="9713" anchor="ctr">
                    <a:lnL>
                      <a:noFill/>
                    </a:lnL>
                    <a:lnR>
                      <a:noFill/>
                    </a:lnR>
                    <a:lnT>
                      <a:noFill/>
                    </a:lnT>
                    <a:lnB>
                      <a:noFill/>
                    </a:lnB>
                    <a:solidFill>
                      <a:schemeClr val="bg2"/>
                    </a:solid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0.010</a:t>
                      </a:r>
                    </a:p>
                  </a:txBody>
                  <a:tcPr marL="19426" marR="19426" marT="9713" marB="9713" anchor="ctr">
                    <a:lnL>
                      <a:noFill/>
                    </a:lnL>
                    <a:lnR>
                      <a:noFill/>
                    </a:lnR>
                    <a:lnT>
                      <a:noFill/>
                    </a:lnT>
                    <a:lnB>
                      <a:noFill/>
                    </a:lnB>
                    <a:solidFill>
                      <a:schemeClr val="bg2"/>
                    </a:solidFill>
                  </a:tcPr>
                </a:tc>
                <a:extLst>
                  <a:ext uri="{0D108BD9-81ED-4DB2-BD59-A6C34878D82A}">
                    <a16:rowId xmlns:a16="http://schemas.microsoft.com/office/drawing/2014/main" val="2124869768"/>
                  </a:ext>
                </a:extLst>
              </a:tr>
              <a:tr h="485640">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Proportion with rice as top sales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稲作</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が</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販売金額</a:t>
                      </a:r>
                      <a:r>
                        <a:rPr lang="en-US" altLang="zh-CN" sz="1600" dirty="0">
                          <a:latin typeface="Calibri" panose="020F0502020204030204" pitchFamily="34" charset="0"/>
                          <a:ea typeface="Calibri" panose="020F0502020204030204" pitchFamily="34" charset="0"/>
                          <a:cs typeface="Calibri" panose="020F0502020204030204" pitchFamily="34" charset="0"/>
                        </a:rPr>
                        <a:t>1</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位</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である</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割合</a:t>
                      </a:r>
                    </a:p>
                  </a:txBody>
                  <a:tcPr marL="19426" marR="19426" marT="9713" marB="9713" anchor="ctr">
                    <a:lnL>
                      <a:noFill/>
                    </a:lnL>
                    <a:lnR>
                      <a:noFill/>
                    </a:lnR>
                    <a:lnT>
                      <a:noFill/>
                    </a:lnT>
                    <a:lnB>
                      <a:noFill/>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0.012</a:t>
                      </a:r>
                    </a:p>
                  </a:txBody>
                  <a:tcPr marL="19426" marR="19426" marT="9713" marB="9713" anchor="ctr">
                    <a:lnL>
                      <a:noFill/>
                    </a:lnL>
                    <a:lnR>
                      <a:noFill/>
                    </a:lnR>
                    <a:lnT>
                      <a:noFill/>
                    </a:lnT>
                    <a:lnB>
                      <a:noFill/>
                    </a:lnB>
                    <a:noFill/>
                  </a:tcPr>
                </a:tc>
                <a:tc>
                  <a:txBody>
                    <a:bodyPr/>
                    <a:lstStyle/>
                    <a:p>
                      <a:pPr>
                        <a:buNone/>
                      </a:pPr>
                      <a:r>
                        <a:rPr lang="en-US" altLang="zh-CN" sz="1600">
                          <a:latin typeface="Calibri" panose="020F0502020204030204" pitchFamily="34" charset="0"/>
                          <a:ea typeface="Calibri" panose="020F0502020204030204" pitchFamily="34" charset="0"/>
                          <a:cs typeface="Calibri" panose="020F0502020204030204" pitchFamily="34" charset="0"/>
                        </a:rPr>
                        <a:t>0.009</a:t>
                      </a:r>
                    </a:p>
                  </a:txBody>
                  <a:tcPr marL="19426" marR="19426" marT="9713" marB="9713" anchor="ctr">
                    <a:lnL>
                      <a:noFill/>
                    </a:lnL>
                    <a:lnR>
                      <a:noFill/>
                    </a:lnR>
                    <a:lnT>
                      <a:noFill/>
                    </a:lnT>
                    <a:lnB>
                      <a:noFill/>
                    </a:lnB>
                    <a:noFill/>
                  </a:tcPr>
                </a:tc>
                <a:tc>
                  <a:txBody>
                    <a:bodyPr/>
                    <a:lstStyle/>
                    <a:p>
                      <a:pPr>
                        <a:buNone/>
                      </a:pPr>
                      <a:r>
                        <a:rPr lang="zh-CN" altLang="en-US" sz="1600">
                          <a:latin typeface="Calibri" panose="020F0502020204030204" pitchFamily="34" charset="0"/>
                          <a:ea typeface="UD Digi Kyokasho N" panose="02020400000000000000" pitchFamily="17" charset="-128"/>
                          <a:cs typeface="Calibri" panose="020F0502020204030204" pitchFamily="34" charset="0"/>
                        </a:rPr>
                        <a:t>−</a:t>
                      </a:r>
                      <a:r>
                        <a:rPr lang="en-US" altLang="zh-CN" sz="1600">
                          <a:latin typeface="Calibri" panose="020F0502020204030204" pitchFamily="34" charset="0"/>
                          <a:ea typeface="Calibri" panose="020F0502020204030204" pitchFamily="34" charset="0"/>
                          <a:cs typeface="Calibri" panose="020F0502020204030204" pitchFamily="34" charset="0"/>
                        </a:rPr>
                        <a:t>0.153***</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0.059</a:t>
                      </a:r>
                    </a:p>
                  </a:txBody>
                  <a:tcPr marL="19426" marR="19426" marT="9713" marB="9713" anchor="ctr">
                    <a:lnL>
                      <a:noFill/>
                    </a:lnL>
                    <a:lnR>
                      <a:noFill/>
                    </a:lnR>
                    <a:lnT>
                      <a:noFill/>
                    </a:lnT>
                    <a:lnB>
                      <a:noFill/>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0.181***</a:t>
                      </a:r>
                    </a:p>
                  </a:txBody>
                  <a:tcPr marL="19426" marR="19426" marT="9713" marB="9713" anchor="ctr">
                    <a:lnL>
                      <a:noFill/>
                    </a:lnL>
                    <a:lnR>
                      <a:noFill/>
                    </a:lnR>
                    <a:lnT>
                      <a:noFill/>
                    </a:lnT>
                    <a:lnB>
                      <a:noFill/>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0.028</a:t>
                      </a:r>
                    </a:p>
                  </a:txBody>
                  <a:tcPr marL="19426" marR="19426" marT="9713" marB="9713" anchor="ctr">
                    <a:lnL>
                      <a:noFill/>
                    </a:lnL>
                    <a:lnR>
                      <a:noFill/>
                    </a:lnR>
                    <a:lnT>
                      <a:noFill/>
                    </a:lnT>
                    <a:lnB>
                      <a:noFill/>
                    </a:lnB>
                    <a:noFill/>
                  </a:tcPr>
                </a:tc>
                <a:extLst>
                  <a:ext uri="{0D108BD9-81ED-4DB2-BD59-A6C34878D82A}">
                    <a16:rowId xmlns:a16="http://schemas.microsoft.com/office/drawing/2014/main" val="3867036706"/>
                  </a:ext>
                </a:extLst>
              </a:tr>
              <a:tr h="194256">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Average age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平均年齢</a:t>
                      </a:r>
                    </a:p>
                  </a:txBody>
                  <a:tcPr marL="19426" marR="19426" marT="9713" marB="9713" anchor="ctr">
                    <a:lnL>
                      <a:noFill/>
                    </a:lnL>
                    <a:lnR>
                      <a:noFill/>
                    </a:lnR>
                    <a:lnT>
                      <a:noFill/>
                    </a:lnT>
                    <a:lnB>
                      <a:noFill/>
                    </a:lnB>
                    <a:solidFill>
                      <a:schemeClr val="bg2"/>
                    </a:solidFill>
                  </a:tcPr>
                </a:tc>
                <a:tc>
                  <a:txBody>
                    <a:bodyPr/>
                    <a:lstStyle/>
                    <a:p>
                      <a:pPr>
                        <a:buNone/>
                      </a:pPr>
                      <a:r>
                        <a:rPr lang="zh-CN" altLang="en-US" sz="1600">
                          <a:latin typeface="Calibri" panose="020F0502020204030204" pitchFamily="34" charset="0"/>
                          <a:ea typeface="UD Digi Kyokasho N" panose="02020400000000000000" pitchFamily="17" charset="-128"/>
                          <a:cs typeface="Calibri" panose="020F0502020204030204" pitchFamily="34" charset="0"/>
                        </a:rPr>
                        <a:t>−</a:t>
                      </a:r>
                      <a:r>
                        <a:rPr lang="en-US" altLang="zh-CN" sz="160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0.003</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0.002</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0.001</a:t>
                      </a:r>
                    </a:p>
                  </a:txBody>
                  <a:tcPr marL="19426" marR="19426" marT="9713" marB="9713" anchor="ctr">
                    <a:lnL>
                      <a:noFill/>
                    </a:lnL>
                    <a:lnR>
                      <a:noFill/>
                    </a:lnR>
                    <a:lnT>
                      <a:noFill/>
                    </a:lnT>
                    <a:lnB>
                      <a:noFill/>
                    </a:lnB>
                    <a:solidFill>
                      <a:schemeClr val="bg2"/>
                    </a:solidFill>
                  </a:tcPr>
                </a:tc>
                <a:extLst>
                  <a:ext uri="{0D108BD9-81ED-4DB2-BD59-A6C34878D82A}">
                    <a16:rowId xmlns:a16="http://schemas.microsoft.com/office/drawing/2014/main" val="750936343"/>
                  </a:ext>
                </a:extLst>
              </a:tr>
              <a:tr h="369087">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Successor securing rate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後継者</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の</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確保率</a:t>
                      </a:r>
                    </a:p>
                  </a:txBody>
                  <a:tcPr marL="19426" marR="19426" marT="9713" marB="9713" anchor="ctr">
                    <a:lnL>
                      <a:noFill/>
                    </a:lnL>
                    <a:lnR>
                      <a:noFill/>
                    </a:lnR>
                    <a:lnT>
                      <a:noFill/>
                    </a:lnT>
                    <a:lnB>
                      <a:noFill/>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0.198***</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0.075</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0.029</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0.023</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0.065***</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0.019</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8909990"/>
                  </a:ext>
                </a:extLst>
              </a:tr>
              <a:tr h="194256">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Residual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残差</a:t>
                      </a:r>
                    </a:p>
                  </a:txBody>
                  <a:tcPr marL="19426" marR="19426" marT="9713" marB="9713" anchor="ctr">
                    <a:lnL>
                      <a:noFill/>
                    </a:lnL>
                    <a:lnR>
                      <a:noFill/>
                    </a:lnR>
                    <a:lnT>
                      <a:noFill/>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tc>
                  <a:txBody>
                    <a:bodyPr/>
                    <a:lstStyle/>
                    <a:p>
                      <a:pPr>
                        <a:buNone/>
                      </a:pPr>
                      <a:r>
                        <a:rPr lang="zh-CN" altLang="en-US" sz="1600" dirty="0">
                          <a:latin typeface="Calibri" panose="020F0502020204030204" pitchFamily="34" charset="0"/>
                          <a:ea typeface="UD Digi Kyokasho N" panose="02020400000000000000" pitchFamily="17" charset="-128"/>
                          <a:cs typeface="Calibri" panose="020F0502020204030204" pitchFamily="34" charset="0"/>
                        </a:rPr>
                        <a:t>−</a:t>
                      </a:r>
                      <a:r>
                        <a:rPr lang="en-US" altLang="zh-CN" sz="1600" dirty="0">
                          <a:latin typeface="Calibri" panose="020F0502020204030204" pitchFamily="34" charset="0"/>
                          <a:ea typeface="Calibri" panose="020F0502020204030204" pitchFamily="34" charset="0"/>
                          <a:cs typeface="Calibri" panose="020F0502020204030204" pitchFamily="34" charset="0"/>
                        </a:rPr>
                        <a:t>2.040***</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tc>
                  <a:txBody>
                    <a:bodyPr/>
                    <a:lstStyle/>
                    <a:p>
                      <a:pPr>
                        <a:buNone/>
                      </a:pPr>
                      <a:r>
                        <a:rPr lang="en-US" altLang="zh-CN" sz="1600" dirty="0">
                          <a:latin typeface="Calibri" panose="020F0502020204030204" pitchFamily="34" charset="0"/>
                          <a:ea typeface="Calibri" panose="020F0502020204030204" pitchFamily="34" charset="0"/>
                          <a:cs typeface="Calibri" panose="020F0502020204030204" pitchFamily="34" charset="0"/>
                        </a:rPr>
                        <a:t>0.524</a:t>
                      </a: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tc>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w="19050" cap="flat" cmpd="sng" algn="ctr">
                      <a:solidFill>
                        <a:schemeClr val="tx1"/>
                      </a:solidFill>
                      <a:prstDash val="solid"/>
                      <a:round/>
                      <a:headEnd type="none" w="med" len="med"/>
                      <a:tailEnd type="none" w="med" len="med"/>
                    </a:lnT>
                    <a:lnB>
                      <a:noFill/>
                    </a:lnB>
                    <a:solidFill>
                      <a:schemeClr val="bg2"/>
                    </a:solidFill>
                  </a:tcPr>
                </a:tc>
                <a:extLst>
                  <a:ext uri="{0D108BD9-81ED-4DB2-BD59-A6C34878D82A}">
                    <a16:rowId xmlns:a16="http://schemas.microsoft.com/office/drawing/2014/main" val="1467507024"/>
                  </a:ext>
                </a:extLst>
              </a:tr>
              <a:tr h="194256">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Sample size / </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サンプル</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数</a:t>
                      </a:r>
                    </a:p>
                  </a:txBody>
                  <a:tcPr marL="19426" marR="19426" marT="9713" marB="9713" anchor="ctr">
                    <a:lnL>
                      <a:noFill/>
                    </a:lnL>
                    <a:lnR>
                      <a:noFill/>
                    </a:lnR>
                    <a:lnT>
                      <a:noFill/>
                    </a:lnT>
                    <a:lnB>
                      <a:noFill/>
                    </a:lnB>
                    <a:no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3120</a:t>
                      </a:r>
                    </a:p>
                  </a:txBody>
                  <a:tcPr marL="19426" marR="19426" marT="9713" marB="9713" anchor="ctr">
                    <a:lnL>
                      <a:noFill/>
                    </a:lnL>
                    <a:lnR>
                      <a:noFill/>
                    </a:lnR>
                    <a:lnT>
                      <a:noFill/>
                    </a:lnT>
                    <a:lnB>
                      <a:noFill/>
                    </a:lnB>
                    <a:noFill/>
                  </a:tcPr>
                </a:tc>
                <a:tc hMerge="1">
                  <a:txBody>
                    <a:bodyPr/>
                    <a:lstStyle/>
                    <a:p>
                      <a:pP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3120</a:t>
                      </a:r>
                    </a:p>
                  </a:txBody>
                  <a:tcPr marL="19426" marR="19426" marT="9713" marB="9713" anchor="ctr">
                    <a:lnL>
                      <a:noFill/>
                    </a:lnL>
                    <a:lnR>
                      <a:noFill/>
                    </a:lnR>
                    <a:lnT>
                      <a:noFill/>
                    </a:lnT>
                    <a:lnB>
                      <a:noFill/>
                    </a:lnB>
                    <a:noFill/>
                  </a:tcPr>
                </a:tc>
                <a:tc hMerge="1">
                  <a:txBody>
                    <a:bodyPr/>
                    <a:lstStyle/>
                    <a:p>
                      <a:pPr algn="ct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3120</a:t>
                      </a:r>
                    </a:p>
                  </a:txBody>
                  <a:tcPr marL="19426" marR="19426" marT="9713" marB="9713" anchor="ctr">
                    <a:lnL>
                      <a:noFill/>
                    </a:lnL>
                    <a:lnR>
                      <a:noFill/>
                    </a:lnR>
                    <a:lnT>
                      <a:noFill/>
                    </a:lnT>
                    <a:lnB>
                      <a:noFill/>
                    </a:lnB>
                    <a:noFill/>
                  </a:tcPr>
                </a:tc>
                <a:tc hMerge="1">
                  <a:txBody>
                    <a:bodyPr/>
                    <a:lstStyle/>
                    <a:p>
                      <a:pPr algn="ct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a:noFill/>
                    </a:lnB>
                    <a:noFill/>
                  </a:tcPr>
                </a:tc>
                <a:extLst>
                  <a:ext uri="{0D108BD9-81ED-4DB2-BD59-A6C34878D82A}">
                    <a16:rowId xmlns:a16="http://schemas.microsoft.com/office/drawing/2014/main" val="1429770114"/>
                  </a:ext>
                </a:extLst>
              </a:tr>
              <a:tr h="252533">
                <a:tc>
                  <a:txBody>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Adj. R² / </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調整済</a:t>
                      </a:r>
                      <a:r>
                        <a:rPr lang="ja-JP" altLang="en-US" sz="1600" dirty="0">
                          <a:latin typeface="Calibri" panose="020F0502020204030204" pitchFamily="34" charset="0"/>
                          <a:ea typeface="UD Digi Kyokasho N" panose="02020400000000000000" pitchFamily="17" charset="-128"/>
                          <a:cs typeface="Calibri" panose="020F0502020204030204" pitchFamily="34" charset="0"/>
                        </a:rPr>
                        <a:t>み</a:t>
                      </a:r>
                      <a:r>
                        <a:rPr lang="zh-CN" altLang="en-US" sz="1600" dirty="0">
                          <a:latin typeface="Calibri" panose="020F0502020204030204" pitchFamily="34" charset="0"/>
                          <a:ea typeface="UD Digi Kyokasho N" panose="02020400000000000000" pitchFamily="17" charset="-128"/>
                          <a:cs typeface="Calibri" panose="020F0502020204030204" pitchFamily="34" charset="0"/>
                        </a:rPr>
                        <a:t>決定係数</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0.658</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hMerge="1">
                  <a:txBody>
                    <a:bodyPr/>
                    <a:lstStyle/>
                    <a:p>
                      <a:pPr algn="ct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0.902</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hMerge="1">
                  <a:txBody>
                    <a:bodyPr/>
                    <a:lstStyle/>
                    <a:p>
                      <a:pPr algn="ct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gridSpan="2">
                  <a:txBody>
                    <a:bodyPr/>
                    <a:lstStyle/>
                    <a:p>
                      <a:pPr algn="ctr">
                        <a:buNone/>
                      </a:pPr>
                      <a:r>
                        <a:rPr lang="en-US" altLang="zh-CN" sz="1600" dirty="0">
                          <a:latin typeface="Calibri" panose="020F0502020204030204" pitchFamily="34" charset="0"/>
                          <a:ea typeface="Calibri" panose="020F0502020204030204" pitchFamily="34" charset="0"/>
                          <a:cs typeface="Calibri" panose="020F0502020204030204" pitchFamily="34" charset="0"/>
                        </a:rPr>
                        <a:t>0.902</a:t>
                      </a: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tc hMerge="1">
                  <a:txBody>
                    <a:bodyPr/>
                    <a:lstStyle/>
                    <a:p>
                      <a:pPr algn="ctr">
                        <a:buNone/>
                      </a:pPr>
                      <a:endParaRPr lang="zh-CN" altLang="en-US" sz="1600" dirty="0">
                        <a:latin typeface="Calibri" panose="020F0502020204030204" pitchFamily="34" charset="0"/>
                        <a:ea typeface="UD Digi Kyokasho N" panose="02020400000000000000" pitchFamily="17" charset="-128"/>
                        <a:cs typeface="Calibri" panose="020F0502020204030204" pitchFamily="34" charset="0"/>
                      </a:endParaRPr>
                    </a:p>
                  </a:txBody>
                  <a:tcPr marL="19426" marR="19426" marT="9713" marB="9713" anchor="ctr">
                    <a:lnL>
                      <a:noFill/>
                    </a:lnL>
                    <a:lnR>
                      <a:noFill/>
                    </a:lnR>
                    <a:lnT>
                      <a:noFill/>
                    </a:lnT>
                    <a:lnB w="190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76031845"/>
                  </a:ext>
                </a:extLst>
              </a:tr>
            </a:tbl>
          </a:graphicData>
        </a:graphic>
      </p:graphicFrame>
    </p:spTree>
    <p:extLst>
      <p:ext uri="{BB962C8B-B14F-4D97-AF65-F5344CB8AC3E}">
        <p14:creationId xmlns:p14="http://schemas.microsoft.com/office/powerpoint/2010/main" val="292152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8250-BE63-9018-4585-8334ED43DE59}"/>
            </a:ext>
          </a:extLst>
        </p:cNvPr>
        <p:cNvGrpSpPr/>
        <p:nvPr/>
      </p:nvGrpSpPr>
      <p:grpSpPr>
        <a:xfrm>
          <a:off x="0" y="0"/>
          <a:ext cx="0" cy="0"/>
          <a:chOff x="0" y="0"/>
          <a:chExt cx="0" cy="0"/>
        </a:xfrm>
      </p:grpSpPr>
    </p:spTree>
    <p:extLst>
      <p:ext uri="{BB962C8B-B14F-4D97-AF65-F5344CB8AC3E}">
        <p14:creationId xmlns:p14="http://schemas.microsoft.com/office/powerpoint/2010/main" val="6923818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1930</TotalTime>
  <Words>1571</Words>
  <Application>Microsoft Office PowerPoint</Application>
  <PresentationFormat>宽屏</PresentationFormat>
  <Paragraphs>227</Paragraphs>
  <Slides>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Segoe WPC</vt:lpstr>
      <vt:lpstr>UD Digi Kyokasho N</vt:lpstr>
      <vt:lpstr>等线</vt:lpstr>
      <vt:lpstr>等线 Light</vt:lpstr>
      <vt:lpstr>Arial</vt:lpstr>
      <vt:lpstr>Calibri</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晓彤 王</dc:creator>
  <cp:lastModifiedBy>晓彤 王</cp:lastModifiedBy>
  <cp:revision>27</cp:revision>
  <dcterms:created xsi:type="dcterms:W3CDTF">2026-04-17T02:10:04Z</dcterms:created>
  <dcterms:modified xsi:type="dcterms:W3CDTF">2026-04-18T10:20:08Z</dcterms:modified>
</cp:coreProperties>
</file>